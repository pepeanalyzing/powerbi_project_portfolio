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1" r:id="rId4"/>
  </p:sldMasterIdLst>
  <p:notesMasterIdLst>
    <p:notesMasterId r:id="rId20"/>
  </p:notesMasterIdLst>
  <p:sldIdLst>
    <p:sldId id="530" r:id="rId5"/>
    <p:sldId id="531" r:id="rId6"/>
    <p:sldId id="533" r:id="rId7"/>
    <p:sldId id="547" r:id="rId8"/>
    <p:sldId id="552" r:id="rId9"/>
    <p:sldId id="553" r:id="rId10"/>
    <p:sldId id="534" r:id="rId11"/>
    <p:sldId id="535" r:id="rId12"/>
    <p:sldId id="554" r:id="rId13"/>
    <p:sldId id="555" r:id="rId14"/>
    <p:sldId id="556" r:id="rId15"/>
    <p:sldId id="557" r:id="rId16"/>
    <p:sldId id="558" r:id="rId17"/>
    <p:sldId id="559" r:id="rId18"/>
    <p:sldId id="56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C230"/>
    <a:srgbClr val="422A00"/>
    <a:srgbClr val="FEB52B"/>
    <a:srgbClr val="9A780A"/>
    <a:srgbClr val="F2EFEA"/>
    <a:srgbClr val="935707"/>
    <a:srgbClr val="8822EE"/>
    <a:srgbClr val="F01688"/>
    <a:srgbClr val="2F21F3"/>
    <a:srgbClr val="F016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A283EB-A93D-4E60-B5AC-EFDD1626338C}" v="25" dt="2026-01-14T23:20:53.082"/>
    <p1510:client id="{ABB6B1C5-42CD-5317-84B1-57B09FEBE215}" v="8" dt="2026-01-14T23:44:40.8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6006" autoAdjust="0"/>
    <p:restoredTop sz="94422" autoAdjust="0"/>
  </p:normalViewPr>
  <p:slideViewPr>
    <p:cSldViewPr snapToGrid="0">
      <p:cViewPr varScale="1">
        <p:scale>
          <a:sx n="51" d="100"/>
          <a:sy n="51" d="100"/>
        </p:scale>
        <p:origin x="690" y="45"/>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p:scale>
          <a:sx n="80" d="100"/>
          <a:sy n="80" d="100"/>
        </p:scale>
        <p:origin x="141"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095FFD-ACF8-4990-A634-31CF34044E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NZ"/>
        </a:p>
      </dgm:t>
    </dgm:pt>
    <dgm:pt modelId="{20B53316-B518-4A6F-B898-E18159303467}">
      <dgm:prSet/>
      <dgm:spPr/>
      <dgm:t>
        <a:bodyPr/>
        <a:lstStyle/>
        <a:p>
          <a:r>
            <a:rPr lang="en-US" b="1" dirty="0"/>
            <a:t>Primary Recommendations</a:t>
          </a:r>
          <a:endParaRPr lang="en-NZ" dirty="0"/>
        </a:p>
      </dgm:t>
    </dgm:pt>
    <dgm:pt modelId="{0E642077-6322-4748-A441-48B41E7E27CA}" type="parTrans" cxnId="{E96A6D50-C28E-4622-95FB-B219842EAB08}">
      <dgm:prSet/>
      <dgm:spPr/>
      <dgm:t>
        <a:bodyPr/>
        <a:lstStyle/>
        <a:p>
          <a:endParaRPr lang="en-NZ"/>
        </a:p>
      </dgm:t>
    </dgm:pt>
    <dgm:pt modelId="{9F3E5F47-D33A-4FCC-A15B-759993D0199A}" type="sibTrans" cxnId="{E96A6D50-C28E-4622-95FB-B219842EAB08}">
      <dgm:prSet/>
      <dgm:spPr/>
      <dgm:t>
        <a:bodyPr/>
        <a:lstStyle/>
        <a:p>
          <a:endParaRPr lang="en-NZ"/>
        </a:p>
      </dgm:t>
    </dgm:pt>
    <dgm:pt modelId="{0AC83401-DE4B-4682-8E07-32CEA406095B}">
      <dgm:prSet custT="1"/>
      <dgm:spPr/>
      <dgm:t>
        <a:bodyPr/>
        <a:lstStyle/>
        <a:p>
          <a:pPr algn="just">
            <a:lnSpc>
              <a:spcPct val="100000"/>
            </a:lnSpc>
          </a:pPr>
          <a:r>
            <a:rPr lang="en-US" sz="1400" b="1" dirty="0"/>
            <a:t>Immediate Actions – Primary Turnaround Initiative</a:t>
          </a:r>
          <a:endParaRPr lang="en-NZ" sz="1400" dirty="0"/>
        </a:p>
      </dgm:t>
    </dgm:pt>
    <dgm:pt modelId="{7DE189DD-324A-4C8A-BE16-95950FEEA729}" type="parTrans" cxnId="{4B6F4CEE-57BD-4C7F-B8DA-BC8215F1C564}">
      <dgm:prSet/>
      <dgm:spPr/>
      <dgm:t>
        <a:bodyPr/>
        <a:lstStyle/>
        <a:p>
          <a:endParaRPr lang="en-NZ"/>
        </a:p>
      </dgm:t>
    </dgm:pt>
    <dgm:pt modelId="{4E0E49BE-0F74-4CF7-A562-1F529E081000}" type="sibTrans" cxnId="{4B6F4CEE-57BD-4C7F-B8DA-BC8215F1C564}">
      <dgm:prSet/>
      <dgm:spPr/>
      <dgm:t>
        <a:bodyPr/>
        <a:lstStyle/>
        <a:p>
          <a:endParaRPr lang="en-NZ"/>
        </a:p>
      </dgm:t>
    </dgm:pt>
    <dgm:pt modelId="{8956E6B9-9FA0-4D44-9001-A890965155E8}">
      <dgm:prSet custT="1"/>
      <dgm:spPr/>
      <dgm:t>
        <a:bodyPr/>
        <a:lstStyle/>
        <a:p>
          <a:pPr algn="just">
            <a:lnSpc>
              <a:spcPct val="100000"/>
            </a:lnSpc>
          </a:pPr>
          <a:r>
            <a:rPr lang="en-US" sz="1400" b="0" dirty="0"/>
            <a:t>Product Diversification</a:t>
          </a:r>
          <a:endParaRPr lang="en-NZ" sz="1400" dirty="0"/>
        </a:p>
      </dgm:t>
    </dgm:pt>
    <dgm:pt modelId="{2FFFEF8C-68C4-41B4-94A1-CF20BE71E298}" type="parTrans" cxnId="{6AFBDEB2-86FF-4A1C-9C7E-A45C05275308}">
      <dgm:prSet/>
      <dgm:spPr/>
      <dgm:t>
        <a:bodyPr/>
        <a:lstStyle/>
        <a:p>
          <a:endParaRPr lang="en-NZ"/>
        </a:p>
      </dgm:t>
    </dgm:pt>
    <dgm:pt modelId="{CC0A4145-A2CD-4CE0-9520-FF56DA589A76}" type="sibTrans" cxnId="{6AFBDEB2-86FF-4A1C-9C7E-A45C05275308}">
      <dgm:prSet/>
      <dgm:spPr/>
      <dgm:t>
        <a:bodyPr/>
        <a:lstStyle/>
        <a:p>
          <a:endParaRPr lang="en-NZ"/>
        </a:p>
      </dgm:t>
    </dgm:pt>
    <dgm:pt modelId="{EC4403D9-E4DA-4C09-9CB0-E1B8EE348ADF}">
      <dgm:prSet/>
      <dgm:spPr>
        <a:solidFill>
          <a:srgbClr val="F2C230"/>
        </a:solidFill>
      </dgm:spPr>
      <dgm:t>
        <a:bodyPr/>
        <a:lstStyle/>
        <a:p>
          <a:r>
            <a:rPr lang="en-US" b="1"/>
            <a:t>Secondary Recommendations</a:t>
          </a:r>
          <a:endParaRPr lang="en-NZ"/>
        </a:p>
      </dgm:t>
    </dgm:pt>
    <dgm:pt modelId="{D6533740-6740-430B-A23C-9165098AA789}" type="parTrans" cxnId="{D7E2A703-D62F-41F5-993A-8A9B9E59F889}">
      <dgm:prSet/>
      <dgm:spPr/>
      <dgm:t>
        <a:bodyPr/>
        <a:lstStyle/>
        <a:p>
          <a:endParaRPr lang="en-NZ"/>
        </a:p>
      </dgm:t>
    </dgm:pt>
    <dgm:pt modelId="{FD4DC5CD-E600-4374-8493-5D97E8040CF6}" type="sibTrans" cxnId="{D7E2A703-D62F-41F5-993A-8A9B9E59F889}">
      <dgm:prSet/>
      <dgm:spPr/>
      <dgm:t>
        <a:bodyPr/>
        <a:lstStyle/>
        <a:p>
          <a:endParaRPr lang="en-NZ"/>
        </a:p>
      </dgm:t>
    </dgm:pt>
    <dgm:pt modelId="{4403ADD0-D5EF-4662-AC87-F7C644976B57}">
      <dgm:prSet custT="1"/>
      <dgm:spPr/>
      <dgm:t>
        <a:bodyPr/>
        <a:lstStyle/>
        <a:p>
          <a:pPr algn="just">
            <a:lnSpc>
              <a:spcPct val="100000"/>
            </a:lnSpc>
          </a:pPr>
          <a:r>
            <a:rPr lang="en-US" sz="1400" dirty="0"/>
            <a:t>Expand Electronics Lines</a:t>
          </a:r>
          <a:endParaRPr lang="en-NZ" sz="1400" dirty="0"/>
        </a:p>
      </dgm:t>
    </dgm:pt>
    <dgm:pt modelId="{FB970665-A5A1-456F-804F-E5450DC31412}" type="parTrans" cxnId="{384F253F-CE4A-41C6-AD29-3FA03F5D958B}">
      <dgm:prSet/>
      <dgm:spPr/>
      <dgm:t>
        <a:bodyPr/>
        <a:lstStyle/>
        <a:p>
          <a:endParaRPr lang="en-NZ"/>
        </a:p>
      </dgm:t>
    </dgm:pt>
    <dgm:pt modelId="{41D9C34B-719A-41ED-83E1-E4CBA312CED3}" type="sibTrans" cxnId="{384F253F-CE4A-41C6-AD29-3FA03F5D958B}">
      <dgm:prSet/>
      <dgm:spPr/>
      <dgm:t>
        <a:bodyPr/>
        <a:lstStyle/>
        <a:p>
          <a:endParaRPr lang="en-NZ"/>
        </a:p>
      </dgm:t>
    </dgm:pt>
    <dgm:pt modelId="{4A0D9177-88B6-411D-B694-4C5010A77236}">
      <dgm:prSet custT="1"/>
      <dgm:spPr/>
      <dgm:t>
        <a:bodyPr/>
        <a:lstStyle/>
        <a:p>
          <a:pPr algn="just">
            <a:lnSpc>
              <a:spcPct val="100000"/>
            </a:lnSpc>
          </a:pPr>
          <a:r>
            <a:rPr lang="en-US" sz="1400" dirty="0"/>
            <a:t>Leverage December peak</a:t>
          </a:r>
          <a:endParaRPr lang="en-NZ" sz="1400" dirty="0"/>
        </a:p>
      </dgm:t>
    </dgm:pt>
    <dgm:pt modelId="{E4B6D6A6-B99D-4C0F-8120-550C61FDDE7C}" type="parTrans" cxnId="{2FAB28FE-C897-4BE9-A8E4-35D70FC835B7}">
      <dgm:prSet/>
      <dgm:spPr/>
      <dgm:t>
        <a:bodyPr/>
        <a:lstStyle/>
        <a:p>
          <a:endParaRPr lang="en-NZ"/>
        </a:p>
      </dgm:t>
    </dgm:pt>
    <dgm:pt modelId="{62D7C35B-4F55-4B69-88F8-9F3C171138E1}" type="sibTrans" cxnId="{2FAB28FE-C897-4BE9-A8E4-35D70FC835B7}">
      <dgm:prSet/>
      <dgm:spPr/>
      <dgm:t>
        <a:bodyPr/>
        <a:lstStyle/>
        <a:p>
          <a:endParaRPr lang="en-NZ"/>
        </a:p>
      </dgm:t>
    </dgm:pt>
    <dgm:pt modelId="{320034C8-A217-44A5-ACAF-619D867878DA}">
      <dgm:prSet custT="1"/>
      <dgm:spPr/>
      <dgm:t>
        <a:bodyPr/>
        <a:lstStyle/>
        <a:p>
          <a:pPr algn="just">
            <a:lnSpc>
              <a:spcPct val="100000"/>
            </a:lnSpc>
          </a:pPr>
          <a:r>
            <a:rPr lang="en-US" sz="1400" b="0" dirty="0"/>
            <a:t>Reduce Christmas dependency from 80% to 60% with new year lines</a:t>
          </a:r>
          <a:endParaRPr lang="en-NZ" sz="1400" dirty="0"/>
        </a:p>
      </dgm:t>
    </dgm:pt>
    <dgm:pt modelId="{46C6C411-2009-41A1-8AA2-88C4C33D527F}" type="parTrans" cxnId="{97F47E95-E260-45AD-B50A-958948D77D3A}">
      <dgm:prSet/>
      <dgm:spPr/>
      <dgm:t>
        <a:bodyPr/>
        <a:lstStyle/>
        <a:p>
          <a:endParaRPr lang="en-NZ"/>
        </a:p>
      </dgm:t>
    </dgm:pt>
    <dgm:pt modelId="{8850AF11-D20E-457A-A5C5-9CC14F580541}" type="sibTrans" cxnId="{97F47E95-E260-45AD-B50A-958948D77D3A}">
      <dgm:prSet/>
      <dgm:spPr/>
      <dgm:t>
        <a:bodyPr/>
        <a:lstStyle/>
        <a:p>
          <a:endParaRPr lang="en-NZ"/>
        </a:p>
      </dgm:t>
    </dgm:pt>
    <dgm:pt modelId="{8973FBAA-436E-4B6F-961D-74B5DE5C9862}">
      <dgm:prSet custT="1"/>
      <dgm:spPr/>
      <dgm:t>
        <a:bodyPr/>
        <a:lstStyle/>
        <a:p>
          <a:pPr algn="just">
            <a:lnSpc>
              <a:spcPct val="100000"/>
            </a:lnSpc>
          </a:pPr>
          <a:r>
            <a:rPr lang="en-US" sz="1400" dirty="0"/>
            <a:t>June Performance Fix : Address annual low point in June with targeted promotions</a:t>
          </a:r>
          <a:endParaRPr lang="en-NZ" sz="1400" dirty="0"/>
        </a:p>
      </dgm:t>
    </dgm:pt>
    <dgm:pt modelId="{43072174-10FD-4685-B9BA-98859DD93CCB}" type="parTrans" cxnId="{51B65A61-51B3-491C-A79C-C27115F45B38}">
      <dgm:prSet/>
      <dgm:spPr/>
      <dgm:t>
        <a:bodyPr/>
        <a:lstStyle/>
        <a:p>
          <a:endParaRPr lang="en-NZ"/>
        </a:p>
      </dgm:t>
    </dgm:pt>
    <dgm:pt modelId="{F0B00567-7AA5-4B1F-9B51-96111CD056C1}" type="sibTrans" cxnId="{51B65A61-51B3-491C-A79C-C27115F45B38}">
      <dgm:prSet/>
      <dgm:spPr/>
      <dgm:t>
        <a:bodyPr/>
        <a:lstStyle/>
        <a:p>
          <a:endParaRPr lang="en-NZ"/>
        </a:p>
      </dgm:t>
    </dgm:pt>
    <dgm:pt modelId="{1C4FBF4D-369D-433A-8352-8F4E029C211A}">
      <dgm:prSet custT="1"/>
      <dgm:spPr/>
      <dgm:t>
        <a:bodyPr/>
        <a:lstStyle/>
        <a:p>
          <a:pPr algn="just">
            <a:lnSpc>
              <a:spcPct val="100000"/>
            </a:lnSpc>
          </a:pPr>
          <a:r>
            <a:rPr lang="en-US" sz="1400" dirty="0"/>
            <a:t>Market Expansion : Increase India market share from 15% to 18% via local campaigns</a:t>
          </a:r>
          <a:endParaRPr lang="en-NZ" sz="1400" dirty="0"/>
        </a:p>
      </dgm:t>
    </dgm:pt>
    <dgm:pt modelId="{7E46C1BA-393C-4564-83F8-0649AD573B4F}" type="parTrans" cxnId="{9C2EC165-ED3F-4E1C-9DBF-D2C4AB95B33C}">
      <dgm:prSet/>
      <dgm:spPr/>
      <dgm:t>
        <a:bodyPr/>
        <a:lstStyle/>
        <a:p>
          <a:endParaRPr lang="en-NZ"/>
        </a:p>
      </dgm:t>
    </dgm:pt>
    <dgm:pt modelId="{75209B3C-BFE2-4F92-B173-53ACA0BAE0CE}" type="sibTrans" cxnId="{9C2EC165-ED3F-4E1C-9DBF-D2C4AB95B33C}">
      <dgm:prSet/>
      <dgm:spPr/>
      <dgm:t>
        <a:bodyPr/>
        <a:lstStyle/>
        <a:p>
          <a:endParaRPr lang="en-NZ"/>
        </a:p>
      </dgm:t>
    </dgm:pt>
    <dgm:pt modelId="{1B8022CA-C671-4308-80D7-D853F85957CF}">
      <dgm:prSet custT="1"/>
      <dgm:spPr/>
      <dgm:t>
        <a:bodyPr/>
        <a:lstStyle/>
        <a:p>
          <a:pPr algn="just">
            <a:lnSpc>
              <a:spcPct val="100000"/>
            </a:lnSpc>
          </a:pPr>
          <a:r>
            <a:rPr lang="en-US" sz="1400" dirty="0"/>
            <a:t>Add 2-3 new tech products quarterly</a:t>
          </a:r>
          <a:endParaRPr lang="en-NZ" sz="1400" dirty="0"/>
        </a:p>
      </dgm:t>
    </dgm:pt>
    <dgm:pt modelId="{91A156E3-441A-46EF-9E19-717B0DC8B112}" type="parTrans" cxnId="{CD9B4C2F-F615-478D-9B64-4804A772412D}">
      <dgm:prSet/>
      <dgm:spPr/>
      <dgm:t>
        <a:bodyPr/>
        <a:lstStyle/>
        <a:p>
          <a:endParaRPr lang="en-NZ"/>
        </a:p>
      </dgm:t>
    </dgm:pt>
    <dgm:pt modelId="{325614CD-3B79-4F0D-B39A-977C4FE6AD9E}" type="sibTrans" cxnId="{CD9B4C2F-F615-478D-9B64-4804A772412D}">
      <dgm:prSet/>
      <dgm:spPr/>
      <dgm:t>
        <a:bodyPr/>
        <a:lstStyle/>
        <a:p>
          <a:endParaRPr lang="en-NZ"/>
        </a:p>
      </dgm:t>
    </dgm:pt>
    <dgm:pt modelId="{F15AD04B-F81D-491A-8E83-5B46D99778AD}">
      <dgm:prSet custT="1"/>
      <dgm:spPr/>
      <dgm:t>
        <a:bodyPr/>
        <a:lstStyle/>
        <a:p>
          <a:pPr algn="just">
            <a:lnSpc>
              <a:spcPct val="100000"/>
            </a:lnSpc>
          </a:pPr>
          <a:r>
            <a:rPr lang="en-US" sz="1400" dirty="0"/>
            <a:t>Extend holiday success to other months</a:t>
          </a:r>
          <a:endParaRPr lang="en-NZ" sz="1400" dirty="0"/>
        </a:p>
      </dgm:t>
    </dgm:pt>
    <dgm:pt modelId="{14D84217-FF5C-4D32-BD20-9FDE86FB9F92}" type="parTrans" cxnId="{20FEBFA4-5967-45F1-A426-EA2DB068D5A3}">
      <dgm:prSet/>
      <dgm:spPr/>
      <dgm:t>
        <a:bodyPr/>
        <a:lstStyle/>
        <a:p>
          <a:endParaRPr lang="en-NZ"/>
        </a:p>
      </dgm:t>
    </dgm:pt>
    <dgm:pt modelId="{B37F6B85-DB47-46A3-AA56-9BC7E6DA2DD6}" type="sibTrans" cxnId="{20FEBFA4-5967-45F1-A426-EA2DB068D5A3}">
      <dgm:prSet/>
      <dgm:spPr/>
      <dgm:t>
        <a:bodyPr/>
        <a:lstStyle/>
        <a:p>
          <a:endParaRPr lang="en-NZ"/>
        </a:p>
      </dgm:t>
    </dgm:pt>
    <dgm:pt modelId="{C94148C3-3EC9-40AC-B488-7EFDD2DA774D}">
      <dgm:prSet custT="1"/>
      <dgm:spPr/>
      <dgm:t>
        <a:bodyPr/>
        <a:lstStyle/>
        <a:p>
          <a:pPr algn="just">
            <a:lnSpc>
              <a:spcPct val="100000"/>
            </a:lnSpc>
          </a:pPr>
          <a:r>
            <a:rPr lang="en-US" sz="1400" dirty="0"/>
            <a:t>Scale Predictable Growth</a:t>
          </a:r>
          <a:endParaRPr lang="en-NZ" sz="1400" dirty="0"/>
        </a:p>
      </dgm:t>
    </dgm:pt>
    <dgm:pt modelId="{46A42964-8F8A-43FF-8693-3DFC898DBE2E}" type="parTrans" cxnId="{8CDF6217-1925-4C63-80E4-EECAA3847650}">
      <dgm:prSet/>
      <dgm:spPr/>
      <dgm:t>
        <a:bodyPr/>
        <a:lstStyle/>
        <a:p>
          <a:endParaRPr lang="en-NZ"/>
        </a:p>
      </dgm:t>
    </dgm:pt>
    <dgm:pt modelId="{E09EF8B1-F834-4886-BCA0-26652BC3D9AA}" type="sibTrans" cxnId="{8CDF6217-1925-4C63-80E4-EECAA3847650}">
      <dgm:prSet/>
      <dgm:spPr/>
      <dgm:t>
        <a:bodyPr/>
        <a:lstStyle/>
        <a:p>
          <a:endParaRPr lang="en-NZ"/>
        </a:p>
      </dgm:t>
    </dgm:pt>
    <dgm:pt modelId="{65B57109-C943-4CF9-8230-AA1212F264A9}">
      <dgm:prSet custT="1"/>
      <dgm:spPr/>
      <dgm:t>
        <a:bodyPr/>
        <a:lstStyle/>
        <a:p>
          <a:pPr algn="just">
            <a:lnSpc>
              <a:spcPct val="100000"/>
            </a:lnSpc>
          </a:pPr>
          <a:r>
            <a:rPr lang="en-US" sz="1400" dirty="0"/>
            <a:t>Maintain 11.77%+ YTD growth with quarterly reviews</a:t>
          </a:r>
          <a:endParaRPr lang="en-NZ" sz="1400" dirty="0"/>
        </a:p>
      </dgm:t>
    </dgm:pt>
    <dgm:pt modelId="{5E691260-9FBC-416F-AA65-6EC18D603BD5}" type="parTrans" cxnId="{E65B751E-3856-4108-BA8A-A33E92138DCE}">
      <dgm:prSet/>
      <dgm:spPr/>
      <dgm:t>
        <a:bodyPr/>
        <a:lstStyle/>
        <a:p>
          <a:endParaRPr lang="en-NZ"/>
        </a:p>
      </dgm:t>
    </dgm:pt>
    <dgm:pt modelId="{33597F30-49D8-418E-8FA0-985523CEBA7C}" type="sibTrans" cxnId="{E65B751E-3856-4108-BA8A-A33E92138DCE}">
      <dgm:prSet/>
      <dgm:spPr/>
      <dgm:t>
        <a:bodyPr/>
        <a:lstStyle/>
        <a:p>
          <a:endParaRPr lang="en-NZ"/>
        </a:p>
      </dgm:t>
    </dgm:pt>
    <dgm:pt modelId="{BE49C9E6-238B-4A23-AD20-0E90024796E2}" type="pres">
      <dgm:prSet presAssocID="{7C095FFD-ACF8-4990-A634-31CF34044E17}" presName="Name0" presStyleCnt="0">
        <dgm:presLayoutVars>
          <dgm:dir/>
          <dgm:animLvl val="lvl"/>
          <dgm:resizeHandles val="exact"/>
        </dgm:presLayoutVars>
      </dgm:prSet>
      <dgm:spPr/>
    </dgm:pt>
    <dgm:pt modelId="{A2892BCC-CFB7-4675-B884-CD2937C67049}" type="pres">
      <dgm:prSet presAssocID="{20B53316-B518-4A6F-B898-E18159303467}" presName="linNode" presStyleCnt="0"/>
      <dgm:spPr/>
    </dgm:pt>
    <dgm:pt modelId="{71F4A495-A75F-4DE9-AC09-ADE678F675FD}" type="pres">
      <dgm:prSet presAssocID="{20B53316-B518-4A6F-B898-E18159303467}" presName="parentText" presStyleLbl="node1" presStyleIdx="0" presStyleCnt="2">
        <dgm:presLayoutVars>
          <dgm:chMax val="1"/>
          <dgm:bulletEnabled val="1"/>
        </dgm:presLayoutVars>
      </dgm:prSet>
      <dgm:spPr/>
    </dgm:pt>
    <dgm:pt modelId="{9EFCF7D2-FD8D-40A2-A01D-C8731613611E}" type="pres">
      <dgm:prSet presAssocID="{20B53316-B518-4A6F-B898-E18159303467}" presName="descendantText" presStyleLbl="alignAccFollowNode1" presStyleIdx="0" presStyleCnt="2">
        <dgm:presLayoutVars>
          <dgm:bulletEnabled val="1"/>
        </dgm:presLayoutVars>
      </dgm:prSet>
      <dgm:spPr/>
    </dgm:pt>
    <dgm:pt modelId="{14DC7452-0E99-4905-B37F-8BBAAA5E4EAF}" type="pres">
      <dgm:prSet presAssocID="{9F3E5F47-D33A-4FCC-A15B-759993D0199A}" presName="sp" presStyleCnt="0"/>
      <dgm:spPr/>
    </dgm:pt>
    <dgm:pt modelId="{57B7DEE2-52F3-4278-A600-589E3E39AF12}" type="pres">
      <dgm:prSet presAssocID="{EC4403D9-E4DA-4C09-9CB0-E1B8EE348ADF}" presName="linNode" presStyleCnt="0"/>
      <dgm:spPr/>
    </dgm:pt>
    <dgm:pt modelId="{748D76AA-109A-4642-AC91-63A30DFA3FFC}" type="pres">
      <dgm:prSet presAssocID="{EC4403D9-E4DA-4C09-9CB0-E1B8EE348ADF}" presName="parentText" presStyleLbl="node1" presStyleIdx="1" presStyleCnt="2">
        <dgm:presLayoutVars>
          <dgm:chMax val="1"/>
          <dgm:bulletEnabled val="1"/>
        </dgm:presLayoutVars>
      </dgm:prSet>
      <dgm:spPr/>
    </dgm:pt>
    <dgm:pt modelId="{021D7ABB-FAB0-42DB-A19C-E648BCBA1FA2}" type="pres">
      <dgm:prSet presAssocID="{EC4403D9-E4DA-4C09-9CB0-E1B8EE348ADF}" presName="descendantText" presStyleLbl="alignAccFollowNode1" presStyleIdx="1" presStyleCnt="2">
        <dgm:presLayoutVars>
          <dgm:bulletEnabled val="1"/>
        </dgm:presLayoutVars>
      </dgm:prSet>
      <dgm:spPr/>
    </dgm:pt>
  </dgm:ptLst>
  <dgm:cxnLst>
    <dgm:cxn modelId="{D7E2A703-D62F-41F5-993A-8A9B9E59F889}" srcId="{7C095FFD-ACF8-4990-A634-31CF34044E17}" destId="{EC4403D9-E4DA-4C09-9CB0-E1B8EE348ADF}" srcOrd="1" destOrd="0" parTransId="{D6533740-6740-430B-A23C-9165098AA789}" sibTransId="{FD4DC5CD-E600-4374-8493-5D97E8040CF6}"/>
    <dgm:cxn modelId="{8CDF6217-1925-4C63-80E4-EECAA3847650}" srcId="{EC4403D9-E4DA-4C09-9CB0-E1B8EE348ADF}" destId="{C94148C3-3EC9-40AC-B488-7EFDD2DA774D}" srcOrd="4" destOrd="0" parTransId="{46A42964-8F8A-43FF-8693-3DFC898DBE2E}" sibTransId="{E09EF8B1-F834-4886-BCA0-26652BC3D9AA}"/>
    <dgm:cxn modelId="{7A393518-29FD-4F32-90DB-BF8E829354F7}" type="presOf" srcId="{8956E6B9-9FA0-4D44-9001-A890965155E8}" destId="{9EFCF7D2-FD8D-40A2-A01D-C8731613611E}" srcOrd="0" destOrd="1" presId="urn:microsoft.com/office/officeart/2005/8/layout/vList5"/>
    <dgm:cxn modelId="{8D8D4E1C-06EC-414D-A1DE-6EA01B69F5DB}" type="presOf" srcId="{1C4FBF4D-369D-433A-8352-8F4E029C211A}" destId="{9EFCF7D2-FD8D-40A2-A01D-C8731613611E}" srcOrd="0" destOrd="4" presId="urn:microsoft.com/office/officeart/2005/8/layout/vList5"/>
    <dgm:cxn modelId="{E65B751E-3856-4108-BA8A-A33E92138DCE}" srcId="{EC4403D9-E4DA-4C09-9CB0-E1B8EE348ADF}" destId="{65B57109-C943-4CF9-8230-AA1212F264A9}" srcOrd="5" destOrd="0" parTransId="{5E691260-9FBC-416F-AA65-6EC18D603BD5}" sibTransId="{33597F30-49D8-418E-8FA0-985523CEBA7C}"/>
    <dgm:cxn modelId="{D0F96D2B-F6C1-425C-BC95-3B18279C8142}" type="presOf" srcId="{8973FBAA-436E-4B6F-961D-74B5DE5C9862}" destId="{9EFCF7D2-FD8D-40A2-A01D-C8731613611E}" srcOrd="0" destOrd="3" presId="urn:microsoft.com/office/officeart/2005/8/layout/vList5"/>
    <dgm:cxn modelId="{CD9B4C2F-F615-478D-9B64-4804A772412D}" srcId="{EC4403D9-E4DA-4C09-9CB0-E1B8EE348ADF}" destId="{1B8022CA-C671-4308-80D7-D853F85957CF}" srcOrd="1" destOrd="0" parTransId="{91A156E3-441A-46EF-9E19-717B0DC8B112}" sibTransId="{325614CD-3B79-4F0D-B39A-977C4FE6AD9E}"/>
    <dgm:cxn modelId="{58A47038-527D-4F48-A9CE-BB15F024DA3C}" type="presOf" srcId="{320034C8-A217-44A5-ACAF-619D867878DA}" destId="{9EFCF7D2-FD8D-40A2-A01D-C8731613611E}" srcOrd="0" destOrd="2" presId="urn:microsoft.com/office/officeart/2005/8/layout/vList5"/>
    <dgm:cxn modelId="{384F253F-CE4A-41C6-AD29-3FA03F5D958B}" srcId="{EC4403D9-E4DA-4C09-9CB0-E1B8EE348ADF}" destId="{4403ADD0-D5EF-4662-AC87-F7C644976B57}" srcOrd="0" destOrd="0" parTransId="{FB970665-A5A1-456F-804F-E5450DC31412}" sibTransId="{41D9C34B-719A-41ED-83E1-E4CBA312CED3}"/>
    <dgm:cxn modelId="{17C7105C-C212-4294-B9C6-9BF9D61F50B3}" type="presOf" srcId="{65B57109-C943-4CF9-8230-AA1212F264A9}" destId="{021D7ABB-FAB0-42DB-A19C-E648BCBA1FA2}" srcOrd="0" destOrd="5" presId="urn:microsoft.com/office/officeart/2005/8/layout/vList5"/>
    <dgm:cxn modelId="{51B65A61-51B3-491C-A79C-C27115F45B38}" srcId="{0AC83401-DE4B-4682-8E07-32CEA406095B}" destId="{8973FBAA-436E-4B6F-961D-74B5DE5C9862}" srcOrd="2" destOrd="0" parTransId="{43072174-10FD-4685-B9BA-98859DD93CCB}" sibTransId="{F0B00567-7AA5-4B1F-9B51-96111CD056C1}"/>
    <dgm:cxn modelId="{9C2EC165-ED3F-4E1C-9DBF-D2C4AB95B33C}" srcId="{0AC83401-DE4B-4682-8E07-32CEA406095B}" destId="{1C4FBF4D-369D-433A-8352-8F4E029C211A}" srcOrd="3" destOrd="0" parTransId="{7E46C1BA-393C-4564-83F8-0649AD573B4F}" sibTransId="{75209B3C-BFE2-4F92-B173-53ACA0BAE0CE}"/>
    <dgm:cxn modelId="{E96A6D50-C28E-4622-95FB-B219842EAB08}" srcId="{7C095FFD-ACF8-4990-A634-31CF34044E17}" destId="{20B53316-B518-4A6F-B898-E18159303467}" srcOrd="0" destOrd="0" parTransId="{0E642077-6322-4748-A441-48B41E7E27CA}" sibTransId="{9F3E5F47-D33A-4FCC-A15B-759993D0199A}"/>
    <dgm:cxn modelId="{A9E59D58-927D-4BD8-A6AE-1298EE244724}" type="presOf" srcId="{7C095FFD-ACF8-4990-A634-31CF34044E17}" destId="{BE49C9E6-238B-4A23-AD20-0E90024796E2}" srcOrd="0" destOrd="0" presId="urn:microsoft.com/office/officeart/2005/8/layout/vList5"/>
    <dgm:cxn modelId="{97F47E95-E260-45AD-B50A-958948D77D3A}" srcId="{0AC83401-DE4B-4682-8E07-32CEA406095B}" destId="{320034C8-A217-44A5-ACAF-619D867878DA}" srcOrd="1" destOrd="0" parTransId="{46C6C411-2009-41A1-8AA2-88C4C33D527F}" sibTransId="{8850AF11-D20E-457A-A5C5-9CC14F580541}"/>
    <dgm:cxn modelId="{E5D4B29F-ED15-4122-93DC-0C204197E1CF}" type="presOf" srcId="{C94148C3-3EC9-40AC-B488-7EFDD2DA774D}" destId="{021D7ABB-FAB0-42DB-A19C-E648BCBA1FA2}" srcOrd="0" destOrd="4" presId="urn:microsoft.com/office/officeart/2005/8/layout/vList5"/>
    <dgm:cxn modelId="{B8CB64A1-BB3E-4A7B-AAAF-0923E2099B78}" type="presOf" srcId="{4403ADD0-D5EF-4662-AC87-F7C644976B57}" destId="{021D7ABB-FAB0-42DB-A19C-E648BCBA1FA2}" srcOrd="0" destOrd="0" presId="urn:microsoft.com/office/officeart/2005/8/layout/vList5"/>
    <dgm:cxn modelId="{20FEBFA4-5967-45F1-A426-EA2DB068D5A3}" srcId="{EC4403D9-E4DA-4C09-9CB0-E1B8EE348ADF}" destId="{F15AD04B-F81D-491A-8E83-5B46D99778AD}" srcOrd="3" destOrd="0" parTransId="{14D84217-FF5C-4D32-BD20-9FDE86FB9F92}" sibTransId="{B37F6B85-DB47-46A3-AA56-9BC7E6DA2DD6}"/>
    <dgm:cxn modelId="{45651FAB-F372-45A0-9DED-D9CF3551553B}" type="presOf" srcId="{0AC83401-DE4B-4682-8E07-32CEA406095B}" destId="{9EFCF7D2-FD8D-40A2-A01D-C8731613611E}" srcOrd="0" destOrd="0" presId="urn:microsoft.com/office/officeart/2005/8/layout/vList5"/>
    <dgm:cxn modelId="{6AFBDEB2-86FF-4A1C-9C7E-A45C05275308}" srcId="{0AC83401-DE4B-4682-8E07-32CEA406095B}" destId="{8956E6B9-9FA0-4D44-9001-A890965155E8}" srcOrd="0" destOrd="0" parTransId="{2FFFEF8C-68C4-41B4-94A1-CF20BE71E298}" sibTransId="{CC0A4145-A2CD-4CE0-9520-FF56DA589A76}"/>
    <dgm:cxn modelId="{3CA106C4-3E85-4389-8D40-25F1D17F0A89}" type="presOf" srcId="{1B8022CA-C671-4308-80D7-D853F85957CF}" destId="{021D7ABB-FAB0-42DB-A19C-E648BCBA1FA2}" srcOrd="0" destOrd="1" presId="urn:microsoft.com/office/officeart/2005/8/layout/vList5"/>
    <dgm:cxn modelId="{CE1936C4-B676-4391-B904-5F390B054BA3}" type="presOf" srcId="{F15AD04B-F81D-491A-8E83-5B46D99778AD}" destId="{021D7ABB-FAB0-42DB-A19C-E648BCBA1FA2}" srcOrd="0" destOrd="3" presId="urn:microsoft.com/office/officeart/2005/8/layout/vList5"/>
    <dgm:cxn modelId="{2CD708E6-01C2-4065-A941-22037802CB23}" type="presOf" srcId="{20B53316-B518-4A6F-B898-E18159303467}" destId="{71F4A495-A75F-4DE9-AC09-ADE678F675FD}" srcOrd="0" destOrd="0" presId="urn:microsoft.com/office/officeart/2005/8/layout/vList5"/>
    <dgm:cxn modelId="{4B6F4CEE-57BD-4C7F-B8DA-BC8215F1C564}" srcId="{20B53316-B518-4A6F-B898-E18159303467}" destId="{0AC83401-DE4B-4682-8E07-32CEA406095B}" srcOrd="0" destOrd="0" parTransId="{7DE189DD-324A-4C8A-BE16-95950FEEA729}" sibTransId="{4E0E49BE-0F74-4CF7-A562-1F529E081000}"/>
    <dgm:cxn modelId="{96FFE2F7-377B-4E54-8067-9A2E092897D2}" type="presOf" srcId="{EC4403D9-E4DA-4C09-9CB0-E1B8EE348ADF}" destId="{748D76AA-109A-4642-AC91-63A30DFA3FFC}" srcOrd="0" destOrd="0" presId="urn:microsoft.com/office/officeart/2005/8/layout/vList5"/>
    <dgm:cxn modelId="{8FE3B3F9-6C2B-4272-92FD-FF45F1840218}" type="presOf" srcId="{4A0D9177-88B6-411D-B694-4C5010A77236}" destId="{021D7ABB-FAB0-42DB-A19C-E648BCBA1FA2}" srcOrd="0" destOrd="2" presId="urn:microsoft.com/office/officeart/2005/8/layout/vList5"/>
    <dgm:cxn modelId="{2FAB28FE-C897-4BE9-A8E4-35D70FC835B7}" srcId="{EC4403D9-E4DA-4C09-9CB0-E1B8EE348ADF}" destId="{4A0D9177-88B6-411D-B694-4C5010A77236}" srcOrd="2" destOrd="0" parTransId="{E4B6D6A6-B99D-4C0F-8120-550C61FDDE7C}" sibTransId="{62D7C35B-4F55-4B69-88F8-9F3C171138E1}"/>
    <dgm:cxn modelId="{36960695-2355-47A9-99F7-4FCB22E20FA2}" type="presParOf" srcId="{BE49C9E6-238B-4A23-AD20-0E90024796E2}" destId="{A2892BCC-CFB7-4675-B884-CD2937C67049}" srcOrd="0" destOrd="0" presId="urn:microsoft.com/office/officeart/2005/8/layout/vList5"/>
    <dgm:cxn modelId="{5EB7D132-4E84-4C82-B3AC-23152B6893AF}" type="presParOf" srcId="{A2892BCC-CFB7-4675-B884-CD2937C67049}" destId="{71F4A495-A75F-4DE9-AC09-ADE678F675FD}" srcOrd="0" destOrd="0" presId="urn:microsoft.com/office/officeart/2005/8/layout/vList5"/>
    <dgm:cxn modelId="{8F75CE05-91EE-4E5B-9D5D-89EBE297A424}" type="presParOf" srcId="{A2892BCC-CFB7-4675-B884-CD2937C67049}" destId="{9EFCF7D2-FD8D-40A2-A01D-C8731613611E}" srcOrd="1" destOrd="0" presId="urn:microsoft.com/office/officeart/2005/8/layout/vList5"/>
    <dgm:cxn modelId="{CCB1BC0E-A541-431D-8A1E-A437A26F881F}" type="presParOf" srcId="{BE49C9E6-238B-4A23-AD20-0E90024796E2}" destId="{14DC7452-0E99-4905-B37F-8BBAAA5E4EAF}" srcOrd="1" destOrd="0" presId="urn:microsoft.com/office/officeart/2005/8/layout/vList5"/>
    <dgm:cxn modelId="{52E8120E-69FF-4574-B57D-5AEA9CE5F761}" type="presParOf" srcId="{BE49C9E6-238B-4A23-AD20-0E90024796E2}" destId="{57B7DEE2-52F3-4278-A600-589E3E39AF12}" srcOrd="2" destOrd="0" presId="urn:microsoft.com/office/officeart/2005/8/layout/vList5"/>
    <dgm:cxn modelId="{E2619521-2256-47DB-8F25-DD09233E3A9D}" type="presParOf" srcId="{57B7DEE2-52F3-4278-A600-589E3E39AF12}" destId="{748D76AA-109A-4642-AC91-63A30DFA3FFC}" srcOrd="0" destOrd="0" presId="urn:microsoft.com/office/officeart/2005/8/layout/vList5"/>
    <dgm:cxn modelId="{DC58A5DF-3427-40DA-A90C-E8CDFD158EBC}" type="presParOf" srcId="{57B7DEE2-52F3-4278-A600-589E3E39AF12}" destId="{021D7ABB-FAB0-42DB-A19C-E648BCBA1FA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FCF7D2-FD8D-40A2-A01D-C8731613611E}">
      <dsp:nvSpPr>
        <dsp:cNvPr id="0" name=""/>
        <dsp:cNvSpPr/>
      </dsp:nvSpPr>
      <dsp:spPr>
        <a:xfrm rot="5400000">
          <a:off x="5700550" y="-1999143"/>
          <a:ext cx="1753664" cy="619047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622300">
            <a:lnSpc>
              <a:spcPct val="100000"/>
            </a:lnSpc>
            <a:spcBef>
              <a:spcPct val="0"/>
            </a:spcBef>
            <a:spcAft>
              <a:spcPct val="15000"/>
            </a:spcAft>
            <a:buChar char="•"/>
          </a:pPr>
          <a:r>
            <a:rPr lang="en-US" sz="1400" b="1" kern="1200" dirty="0"/>
            <a:t>Immediate Actions – Primary Turnaround Initiative</a:t>
          </a:r>
          <a:endParaRPr lang="en-NZ" sz="1400" kern="1200" dirty="0"/>
        </a:p>
        <a:p>
          <a:pPr marL="228600" lvl="2" indent="-114300" algn="just" defTabSz="622300">
            <a:lnSpc>
              <a:spcPct val="100000"/>
            </a:lnSpc>
            <a:spcBef>
              <a:spcPct val="0"/>
            </a:spcBef>
            <a:spcAft>
              <a:spcPct val="15000"/>
            </a:spcAft>
            <a:buChar char="•"/>
          </a:pPr>
          <a:r>
            <a:rPr lang="en-US" sz="1400" b="0" kern="1200" dirty="0"/>
            <a:t>Product Diversification</a:t>
          </a:r>
          <a:endParaRPr lang="en-NZ" sz="1400" kern="1200" dirty="0"/>
        </a:p>
        <a:p>
          <a:pPr marL="228600" lvl="2" indent="-114300" algn="just" defTabSz="622300">
            <a:lnSpc>
              <a:spcPct val="100000"/>
            </a:lnSpc>
            <a:spcBef>
              <a:spcPct val="0"/>
            </a:spcBef>
            <a:spcAft>
              <a:spcPct val="15000"/>
            </a:spcAft>
            <a:buChar char="•"/>
          </a:pPr>
          <a:r>
            <a:rPr lang="en-US" sz="1400" b="0" kern="1200" dirty="0"/>
            <a:t>Reduce Christmas dependency from 80% to 60% with new year lines</a:t>
          </a:r>
          <a:endParaRPr lang="en-NZ" sz="1400" kern="1200" dirty="0"/>
        </a:p>
        <a:p>
          <a:pPr marL="228600" lvl="2" indent="-114300" algn="just" defTabSz="622300">
            <a:lnSpc>
              <a:spcPct val="100000"/>
            </a:lnSpc>
            <a:spcBef>
              <a:spcPct val="0"/>
            </a:spcBef>
            <a:spcAft>
              <a:spcPct val="15000"/>
            </a:spcAft>
            <a:buChar char="•"/>
          </a:pPr>
          <a:r>
            <a:rPr lang="en-US" sz="1400" kern="1200" dirty="0"/>
            <a:t>June Performance Fix : Address annual low point in June with targeted promotions</a:t>
          </a:r>
          <a:endParaRPr lang="en-NZ" sz="1400" kern="1200" dirty="0"/>
        </a:p>
        <a:p>
          <a:pPr marL="228600" lvl="2" indent="-114300" algn="just" defTabSz="622300">
            <a:lnSpc>
              <a:spcPct val="100000"/>
            </a:lnSpc>
            <a:spcBef>
              <a:spcPct val="0"/>
            </a:spcBef>
            <a:spcAft>
              <a:spcPct val="15000"/>
            </a:spcAft>
            <a:buChar char="•"/>
          </a:pPr>
          <a:r>
            <a:rPr lang="en-US" sz="1400" kern="1200" dirty="0"/>
            <a:t>Market Expansion : Increase India market share from 15% to 18% via local campaigns</a:t>
          </a:r>
          <a:endParaRPr lang="en-NZ" sz="1400" kern="1200" dirty="0"/>
        </a:p>
      </dsp:txBody>
      <dsp:txXfrm rot="-5400000">
        <a:off x="3482144" y="304870"/>
        <a:ext cx="6104871" cy="1582450"/>
      </dsp:txXfrm>
    </dsp:sp>
    <dsp:sp modelId="{71F4A495-A75F-4DE9-AC09-ADE678F675FD}">
      <dsp:nvSpPr>
        <dsp:cNvPr id="0" name=""/>
        <dsp:cNvSpPr/>
      </dsp:nvSpPr>
      <dsp:spPr>
        <a:xfrm>
          <a:off x="0" y="54"/>
          <a:ext cx="3482143" cy="21920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Primary Recommendations</a:t>
          </a:r>
          <a:endParaRPr lang="en-NZ" sz="2600" kern="1200" dirty="0"/>
        </a:p>
      </dsp:txBody>
      <dsp:txXfrm>
        <a:off x="107009" y="107063"/>
        <a:ext cx="3268125" cy="1978062"/>
      </dsp:txXfrm>
    </dsp:sp>
    <dsp:sp modelId="{021D7ABB-FAB0-42DB-A19C-E648BCBA1FA2}">
      <dsp:nvSpPr>
        <dsp:cNvPr id="0" name=""/>
        <dsp:cNvSpPr/>
      </dsp:nvSpPr>
      <dsp:spPr>
        <a:xfrm rot="5400000">
          <a:off x="5700550" y="302540"/>
          <a:ext cx="1753664" cy="619047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622300">
            <a:lnSpc>
              <a:spcPct val="100000"/>
            </a:lnSpc>
            <a:spcBef>
              <a:spcPct val="0"/>
            </a:spcBef>
            <a:spcAft>
              <a:spcPct val="15000"/>
            </a:spcAft>
            <a:buChar char="•"/>
          </a:pPr>
          <a:r>
            <a:rPr lang="en-US" sz="1400" kern="1200" dirty="0"/>
            <a:t>Expand Electronics Lines</a:t>
          </a:r>
          <a:endParaRPr lang="en-NZ" sz="1400" kern="1200" dirty="0"/>
        </a:p>
        <a:p>
          <a:pPr marL="114300" lvl="1" indent="-114300" algn="just" defTabSz="622300">
            <a:lnSpc>
              <a:spcPct val="100000"/>
            </a:lnSpc>
            <a:spcBef>
              <a:spcPct val="0"/>
            </a:spcBef>
            <a:spcAft>
              <a:spcPct val="15000"/>
            </a:spcAft>
            <a:buChar char="•"/>
          </a:pPr>
          <a:r>
            <a:rPr lang="en-US" sz="1400" kern="1200" dirty="0"/>
            <a:t>Add 2-3 new tech products quarterly</a:t>
          </a:r>
          <a:endParaRPr lang="en-NZ" sz="1400" kern="1200" dirty="0"/>
        </a:p>
        <a:p>
          <a:pPr marL="114300" lvl="1" indent="-114300" algn="just" defTabSz="622300">
            <a:lnSpc>
              <a:spcPct val="100000"/>
            </a:lnSpc>
            <a:spcBef>
              <a:spcPct val="0"/>
            </a:spcBef>
            <a:spcAft>
              <a:spcPct val="15000"/>
            </a:spcAft>
            <a:buChar char="•"/>
          </a:pPr>
          <a:r>
            <a:rPr lang="en-US" sz="1400" kern="1200" dirty="0"/>
            <a:t>Leverage December peak</a:t>
          </a:r>
          <a:endParaRPr lang="en-NZ" sz="1400" kern="1200" dirty="0"/>
        </a:p>
        <a:p>
          <a:pPr marL="114300" lvl="1" indent="-114300" algn="just" defTabSz="622300">
            <a:lnSpc>
              <a:spcPct val="100000"/>
            </a:lnSpc>
            <a:spcBef>
              <a:spcPct val="0"/>
            </a:spcBef>
            <a:spcAft>
              <a:spcPct val="15000"/>
            </a:spcAft>
            <a:buChar char="•"/>
          </a:pPr>
          <a:r>
            <a:rPr lang="en-US" sz="1400" kern="1200" dirty="0"/>
            <a:t>Extend holiday success to other months</a:t>
          </a:r>
          <a:endParaRPr lang="en-NZ" sz="1400" kern="1200" dirty="0"/>
        </a:p>
        <a:p>
          <a:pPr marL="114300" lvl="1" indent="-114300" algn="just" defTabSz="622300">
            <a:lnSpc>
              <a:spcPct val="100000"/>
            </a:lnSpc>
            <a:spcBef>
              <a:spcPct val="0"/>
            </a:spcBef>
            <a:spcAft>
              <a:spcPct val="15000"/>
            </a:spcAft>
            <a:buChar char="•"/>
          </a:pPr>
          <a:r>
            <a:rPr lang="en-US" sz="1400" kern="1200" dirty="0"/>
            <a:t>Scale Predictable Growth</a:t>
          </a:r>
          <a:endParaRPr lang="en-NZ" sz="1400" kern="1200" dirty="0"/>
        </a:p>
        <a:p>
          <a:pPr marL="114300" lvl="1" indent="-114300" algn="just" defTabSz="622300">
            <a:lnSpc>
              <a:spcPct val="100000"/>
            </a:lnSpc>
            <a:spcBef>
              <a:spcPct val="0"/>
            </a:spcBef>
            <a:spcAft>
              <a:spcPct val="15000"/>
            </a:spcAft>
            <a:buChar char="•"/>
          </a:pPr>
          <a:r>
            <a:rPr lang="en-US" sz="1400" kern="1200" dirty="0"/>
            <a:t>Maintain 11.77%+ YTD growth with quarterly reviews</a:t>
          </a:r>
          <a:endParaRPr lang="en-NZ" sz="1400" kern="1200" dirty="0"/>
        </a:p>
      </dsp:txBody>
      <dsp:txXfrm rot="-5400000">
        <a:off x="3482144" y="2606554"/>
        <a:ext cx="6104871" cy="1582450"/>
      </dsp:txXfrm>
    </dsp:sp>
    <dsp:sp modelId="{748D76AA-109A-4642-AC91-63A30DFA3FFC}">
      <dsp:nvSpPr>
        <dsp:cNvPr id="0" name=""/>
        <dsp:cNvSpPr/>
      </dsp:nvSpPr>
      <dsp:spPr>
        <a:xfrm>
          <a:off x="0" y="2301739"/>
          <a:ext cx="3482143" cy="2192080"/>
        </a:xfrm>
        <a:prstGeom prst="roundRect">
          <a:avLst/>
        </a:prstGeom>
        <a:solidFill>
          <a:srgbClr val="F2C23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Secondary Recommendations</a:t>
          </a:r>
          <a:endParaRPr lang="en-NZ" sz="2600" kern="1200"/>
        </a:p>
      </dsp:txBody>
      <dsp:txXfrm>
        <a:off x="107009" y="2408748"/>
        <a:ext cx="3268125" cy="197806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we present Mission X – a comparative sales performance analysis of our Primary and Secondary business units from 2015 to 2018. We are Group 2, composed of Bushra, Perpetual, and Mosiana. Thank you for your time.</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1</a:t>
            </a:fld>
            <a:endParaRPr lang="en-US" dirty="0"/>
          </a:p>
        </p:txBody>
      </p:sp>
    </p:spTree>
    <p:extLst>
      <p:ext uri="{BB962C8B-B14F-4D97-AF65-F5344CB8AC3E}">
        <p14:creationId xmlns:p14="http://schemas.microsoft.com/office/powerpoint/2010/main" val="3156274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begin with the executive summary, then explain our methodology and objectives. Next, we'll walk through the key performance insights across sales, products, regions, and time. Finally, we'll present our forecast and strategic recommendations</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2</a:t>
            </a:fld>
            <a:endParaRPr lang="en-US" dirty="0"/>
          </a:p>
        </p:txBody>
      </p:sp>
    </p:spTree>
    <p:extLst>
      <p:ext uri="{BB962C8B-B14F-4D97-AF65-F5344CB8AC3E}">
        <p14:creationId xmlns:p14="http://schemas.microsoft.com/office/powerpoint/2010/main" val="772006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reveals a clear disparity in performance. The Primary business, with $1.9 million in sales, is declining slightly and is heavily concentrated in the UK with seasonal peaks. In contrast, the Secondary business is our growth driver, with $14 million in sales—over seven times larger—and is globally </a:t>
            </a:r>
            <a:r>
              <a:rPr lang="en-US" dirty="0" err="1"/>
              <a:t>diversified.We</a:t>
            </a:r>
            <a:r>
              <a:rPr lang="en-US" dirty="0"/>
              <a:t> recommend a dual strategy: stabilize Primary and accelerate Secondary growth.</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3</a:t>
            </a:fld>
            <a:endParaRPr lang="en-US" dirty="0"/>
          </a:p>
        </p:txBody>
      </p:sp>
    </p:spTree>
    <p:extLst>
      <p:ext uri="{BB962C8B-B14F-4D97-AF65-F5344CB8AC3E}">
        <p14:creationId xmlns:p14="http://schemas.microsoft.com/office/powerpoint/2010/main" val="2544389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X was designed to compare two distinct business units over the same four-year period. Our objectives were to identify performance gaps, diagnose the causes of Primary’s decline versus Secondary’s growth, provide a 90-day forecast, and deliver actionable strategic guidance.</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4</a:t>
            </a:fld>
            <a:endParaRPr lang="en-US" dirty="0"/>
          </a:p>
        </p:txBody>
      </p:sp>
    </p:spTree>
    <p:extLst>
      <p:ext uri="{BB962C8B-B14F-4D97-AF65-F5344CB8AC3E}">
        <p14:creationId xmlns:p14="http://schemas.microsoft.com/office/powerpoint/2010/main" val="2161580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5</a:t>
            </a:fld>
            <a:endParaRPr lang="en-US" dirty="0"/>
          </a:p>
        </p:txBody>
      </p:sp>
    </p:spTree>
    <p:extLst>
      <p:ext uri="{BB962C8B-B14F-4D97-AF65-F5344CB8AC3E}">
        <p14:creationId xmlns:p14="http://schemas.microsoft.com/office/powerpoint/2010/main" val="4185764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complete transactional records for both units, cleaned and analyzed independently. Using Power BI and time-series forecasting, we developed parallel dashboards to compare performance without blending data, ensuring a clear and unbiased view.</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6</a:t>
            </a:fld>
            <a:endParaRPr lang="en-US" dirty="0"/>
          </a:p>
        </p:txBody>
      </p:sp>
    </p:spTree>
    <p:extLst>
      <p:ext uri="{BB962C8B-B14F-4D97-AF65-F5344CB8AC3E}">
        <p14:creationId xmlns:p14="http://schemas.microsoft.com/office/powerpoint/2010/main" val="926116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dashboard is built for clarity and comparison, with a consistent layout, color-coded themes—blue for Primary, yellow for Secondary—and dedicated views for sales, products, regions, time trends, and forecasts.</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7</a:t>
            </a:fld>
            <a:endParaRPr lang="en-US" dirty="0"/>
          </a:p>
        </p:txBody>
      </p:sp>
    </p:spTree>
    <p:extLst>
      <p:ext uri="{BB962C8B-B14F-4D97-AF65-F5344CB8AC3E}">
        <p14:creationId xmlns:p14="http://schemas.microsoft.com/office/powerpoint/2010/main" val="1853835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sales totaled $1.9 million but show a 1.09% annual decline. Key challenges include heavy reliance on Christmas and other gift items and a consistent low in June. To improve, we recommend diversifying the product mix and leveraging peak months like July and October.</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8</a:t>
            </a:fld>
            <a:endParaRPr lang="en-US" dirty="0"/>
          </a:p>
        </p:txBody>
      </p:sp>
    </p:spTree>
    <p:extLst>
      <p:ext uri="{BB962C8B-B14F-4D97-AF65-F5344CB8AC3E}">
        <p14:creationId xmlns:p14="http://schemas.microsoft.com/office/powerpoint/2010/main" val="4079247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Secondary sales reached $14 million over these years, with strong growth driven by electronics such as Bluetooth speakers and smartphone cases. This unit benefits from consistent monthly demand, global reach, and a scalable model.</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9</a:t>
            </a:fld>
            <a:endParaRPr lang="en-US" dirty="0"/>
          </a:p>
        </p:txBody>
      </p:sp>
    </p:spTree>
    <p:extLst>
      <p:ext uri="{BB962C8B-B14F-4D97-AF65-F5344CB8AC3E}">
        <p14:creationId xmlns:p14="http://schemas.microsoft.com/office/powerpoint/2010/main" val="1833839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 product strategy is seasonal and narrow, focused on Christmas and other gifting categories. Secondary’s portfolio is diversified and aligned with year-round market demand. We recommend Primary expand into non-seasonal products to balance its offerings.</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10</a:t>
            </a:fld>
            <a:endParaRPr lang="en-US" dirty="0"/>
          </a:p>
        </p:txBody>
      </p:sp>
    </p:spTree>
    <p:extLst>
      <p:ext uri="{BB962C8B-B14F-4D97-AF65-F5344CB8AC3E}">
        <p14:creationId xmlns:p14="http://schemas.microsoft.com/office/powerpoint/2010/main" val="2088798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is heavily UK-focused, while Secondary operates globally with strong sales in the US and China. We recommend Primary expand further in Europe and that Secondary leverage its US base to enhance global reach. Cross-learning between units can strengthen both.</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11</a:t>
            </a:fld>
            <a:endParaRPr lang="en-US" dirty="0"/>
          </a:p>
        </p:txBody>
      </p:sp>
    </p:spTree>
    <p:extLst>
      <p:ext uri="{BB962C8B-B14F-4D97-AF65-F5344CB8AC3E}">
        <p14:creationId xmlns:p14="http://schemas.microsoft.com/office/powerpoint/2010/main" val="1588284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of December 2018, Primary’s year-to-date sales declined by 6.06%, while Secondary’s grew by 11.77%. This widening gap highlights the urgency for strategic intervention in Primary</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12</a:t>
            </a:fld>
            <a:endParaRPr lang="en-US" dirty="0"/>
          </a:p>
        </p:txBody>
      </p:sp>
    </p:spTree>
    <p:extLst>
      <p:ext uri="{BB962C8B-B14F-4D97-AF65-F5344CB8AC3E}">
        <p14:creationId xmlns:p14="http://schemas.microsoft.com/office/powerpoint/2010/main" val="2588023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Primary’s decline is expected to continue without action, while Secondary is projected to maintain strong growth. This underscores the need for immediate stabilization of Primary and continued investment in Secondary’s scalable model.</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13</a:t>
            </a:fld>
            <a:endParaRPr lang="en-US" dirty="0"/>
          </a:p>
        </p:txBody>
      </p:sp>
    </p:spTree>
    <p:extLst>
      <p:ext uri="{BB962C8B-B14F-4D97-AF65-F5344CB8AC3E}">
        <p14:creationId xmlns:p14="http://schemas.microsoft.com/office/powerpoint/2010/main" val="648281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Primary is declining due to seasonal and geographic limitations, while Secondary is thriving through diversification and global expansion. The strategic imperative is clear: Primary requires immediate turnaround, and Secondary should accelerate growth.</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14</a:t>
            </a:fld>
            <a:endParaRPr lang="en-US" dirty="0"/>
          </a:p>
        </p:txBody>
      </p:sp>
    </p:spTree>
    <p:extLst>
      <p:ext uri="{BB962C8B-B14F-4D97-AF65-F5344CB8AC3E}">
        <p14:creationId xmlns:p14="http://schemas.microsoft.com/office/powerpoint/2010/main" val="22982617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propose a two-part strategy:</a:t>
            </a:r>
          </a:p>
          <a:p>
            <a:endParaRPr lang="en-US" dirty="0"/>
          </a:p>
          <a:p>
            <a:pPr marL="228600" indent="-228600">
              <a:buAutoNum type="arabicPeriod"/>
            </a:pPr>
            <a:r>
              <a:rPr lang="en-US" dirty="0"/>
              <a:t>Stabilize Primary by diversifying products and expanding carefully in Europe.</a:t>
            </a:r>
          </a:p>
          <a:p>
            <a:pPr marL="228600" indent="-228600">
              <a:buAutoNum type="arabicPeriod"/>
            </a:pPr>
            <a:r>
              <a:rPr lang="en-US" dirty="0"/>
              <a:t>Accelerate Secondary by scaling its electronics model and targeting 15% growth in 2019.   </a:t>
            </a:r>
          </a:p>
          <a:p>
            <a:pPr marL="228600" indent="-228600">
              <a:buAutoNum type="arabicPeriod"/>
            </a:pPr>
            <a:endParaRPr lang="en-US" dirty="0"/>
          </a:p>
          <a:p>
            <a:r>
              <a:rPr lang="en-US" dirty="0"/>
              <a:t>We also recommend structured cross-learning between teams to transfer best practices. Thank </a:t>
            </a:r>
            <a:r>
              <a:rPr lang="en-US"/>
              <a:t>you.</a:t>
            </a:r>
            <a:endParaRPr lang="en-NZ" dirty="0"/>
          </a:p>
        </p:txBody>
      </p:sp>
      <p:sp>
        <p:nvSpPr>
          <p:cNvPr id="4" name="Slide Number Placeholder 3"/>
          <p:cNvSpPr>
            <a:spLocks noGrp="1"/>
          </p:cNvSpPr>
          <p:nvPr>
            <p:ph type="sldNum" sz="quarter" idx="5"/>
          </p:nvPr>
        </p:nvSpPr>
        <p:spPr/>
        <p:txBody>
          <a:bodyPr/>
          <a:lstStyle/>
          <a:p>
            <a:fld id="{23C058E0-0852-DB43-83D6-BD76659FF1D8}" type="slidenum">
              <a:rPr lang="en-US" smtClean="0"/>
              <a:t>15</a:t>
            </a:fld>
            <a:endParaRPr lang="en-US" dirty="0"/>
          </a:p>
        </p:txBody>
      </p:sp>
    </p:spTree>
    <p:extLst>
      <p:ext uri="{BB962C8B-B14F-4D97-AF65-F5344CB8AC3E}">
        <p14:creationId xmlns:p14="http://schemas.microsoft.com/office/powerpoint/2010/main" val="1850230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A53A-6EC4-E029-55EE-6707EFFEADF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Z"/>
          </a:p>
        </p:txBody>
      </p:sp>
      <p:sp>
        <p:nvSpPr>
          <p:cNvPr id="3" name="Subtitle 2">
            <a:extLst>
              <a:ext uri="{FF2B5EF4-FFF2-40B4-BE49-F238E27FC236}">
                <a16:creationId xmlns:a16="http://schemas.microsoft.com/office/drawing/2014/main" id="{77ABDDF6-6B22-8E40-D114-D0EDC8C86E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Z"/>
          </a:p>
        </p:txBody>
      </p:sp>
      <p:sp>
        <p:nvSpPr>
          <p:cNvPr id="4" name="Date Placeholder 3">
            <a:extLst>
              <a:ext uri="{FF2B5EF4-FFF2-40B4-BE49-F238E27FC236}">
                <a16:creationId xmlns:a16="http://schemas.microsoft.com/office/drawing/2014/main" id="{EBC01E2F-E739-7E7E-D2D6-DEBEE956B3B4}"/>
              </a:ext>
            </a:extLst>
          </p:cNvPr>
          <p:cNvSpPr>
            <a:spLocks noGrp="1"/>
          </p:cNvSpPr>
          <p:nvPr>
            <p:ph type="dt" sz="half" idx="10"/>
          </p:nvPr>
        </p:nvSpPr>
        <p:spPr/>
        <p:txBody>
          <a:bodyPr/>
          <a:lstStyle/>
          <a:p>
            <a:fld id="{4BDF68E2-58F2-4D09-BE8B-E3BD06533059}" type="datetimeFigureOut">
              <a:rPr lang="en-US" smtClean="0"/>
              <a:t>1/24/2026</a:t>
            </a:fld>
            <a:endParaRPr lang="en-US" dirty="0"/>
          </a:p>
        </p:txBody>
      </p:sp>
      <p:sp>
        <p:nvSpPr>
          <p:cNvPr id="5" name="Footer Placeholder 4">
            <a:extLst>
              <a:ext uri="{FF2B5EF4-FFF2-40B4-BE49-F238E27FC236}">
                <a16:creationId xmlns:a16="http://schemas.microsoft.com/office/drawing/2014/main" id="{25FC0EEE-6BAB-36D2-2906-12447975D81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B3C52EF-97F0-656A-5674-4493CB02A5EC}"/>
              </a:ext>
            </a:extLst>
          </p:cNvPr>
          <p:cNvSpPr>
            <a:spLocks noGrp="1"/>
          </p:cNvSpPr>
          <p:nvPr>
            <p:ph type="sldNum" sz="quarter" idx="12"/>
          </p:nvPr>
        </p:nvSpPr>
        <p:spPr/>
        <p:txBody>
          <a:bodyPr/>
          <a:lstStyle/>
          <a:p>
            <a:fld id="{4FAB73BC-B049-4115-A692-8D63A059BFB8}" type="slidenum">
              <a:rPr lang="en-US" smtClean="0"/>
              <a:t>‹#›</a:t>
            </a:fld>
            <a:endParaRPr lang="en-US" dirty="0"/>
          </a:p>
        </p:txBody>
      </p:sp>
      <p:sp>
        <p:nvSpPr>
          <p:cNvPr id="7" name="Freeform 2">
            <a:extLst>
              <a:ext uri="{FF2B5EF4-FFF2-40B4-BE49-F238E27FC236}">
                <a16:creationId xmlns:a16="http://schemas.microsoft.com/office/drawing/2014/main" id="{111F8951-3A24-18A1-021E-3C334D255692}"/>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9">
            <a:extLst>
              <a:ext uri="{FF2B5EF4-FFF2-40B4-BE49-F238E27FC236}">
                <a16:creationId xmlns:a16="http://schemas.microsoft.com/office/drawing/2014/main" id="{C90FD835-CCEA-DCCB-160E-C61800A5C2F0}"/>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D65C593E-F67D-9F64-6269-C66BB470A3B6}"/>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Freeform 1">
            <a:extLst>
              <a:ext uri="{FF2B5EF4-FFF2-40B4-BE49-F238E27FC236}">
                <a16:creationId xmlns:a16="http://schemas.microsoft.com/office/drawing/2014/main" id="{39C677E2-DD9F-ED7C-C4FE-6435FC95F65F}"/>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3">
            <a:extLst>
              <a:ext uri="{FF2B5EF4-FFF2-40B4-BE49-F238E27FC236}">
                <a16:creationId xmlns:a16="http://schemas.microsoft.com/office/drawing/2014/main" id="{8C743779-ACEE-E534-E0C0-18CE086399A8}"/>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4">
            <a:extLst>
              <a:ext uri="{FF2B5EF4-FFF2-40B4-BE49-F238E27FC236}">
                <a16:creationId xmlns:a16="http://schemas.microsoft.com/office/drawing/2014/main" id="{680E612E-0900-5909-143F-152C1831ED4A}"/>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5">
            <a:extLst>
              <a:ext uri="{FF2B5EF4-FFF2-40B4-BE49-F238E27FC236}">
                <a16:creationId xmlns:a16="http://schemas.microsoft.com/office/drawing/2014/main" id="{2590FB40-AE0C-B6E1-9EC6-B9679919D9ED}"/>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Tree>
    <p:extLst>
      <p:ext uri="{BB962C8B-B14F-4D97-AF65-F5344CB8AC3E}">
        <p14:creationId xmlns:p14="http://schemas.microsoft.com/office/powerpoint/2010/main" val="2170032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1B75D-E62C-C024-CECF-296198B7C59D}"/>
              </a:ext>
            </a:extLst>
          </p:cNvPr>
          <p:cNvSpPr>
            <a:spLocks noGrp="1"/>
          </p:cNvSpPr>
          <p:nvPr>
            <p:ph type="title"/>
          </p:nvPr>
        </p:nvSpPr>
        <p:spPr/>
        <p:txBody>
          <a:bodyPr/>
          <a:lstStyle/>
          <a:p>
            <a:r>
              <a:rPr lang="en-GB"/>
              <a:t>Click to edit Master title style</a:t>
            </a:r>
            <a:endParaRPr lang="en-NZ"/>
          </a:p>
        </p:txBody>
      </p:sp>
      <p:sp>
        <p:nvSpPr>
          <p:cNvPr id="3" name="Content Placeholder 2">
            <a:extLst>
              <a:ext uri="{FF2B5EF4-FFF2-40B4-BE49-F238E27FC236}">
                <a16:creationId xmlns:a16="http://schemas.microsoft.com/office/drawing/2014/main" id="{98DE7DA7-CAB6-471F-C7AA-49192825285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8CEACD94-32B3-6A51-C54F-0B74D2A0EA5E}"/>
              </a:ext>
            </a:extLst>
          </p:cNvPr>
          <p:cNvSpPr>
            <a:spLocks noGrp="1"/>
          </p:cNvSpPr>
          <p:nvPr>
            <p:ph type="dt" sz="half" idx="10"/>
          </p:nvPr>
        </p:nvSpPr>
        <p:spPr/>
        <p:txBody>
          <a:bodyPr/>
          <a:lstStyle/>
          <a:p>
            <a:fld id="{528FC5F6-F338-4AE4-BB23-26385BCFC423}" type="datetimeFigureOut">
              <a:rPr lang="en-US" smtClean="0"/>
              <a:t>1/24/2026</a:t>
            </a:fld>
            <a:endParaRPr lang="en-US" dirty="0"/>
          </a:p>
        </p:txBody>
      </p:sp>
      <p:sp>
        <p:nvSpPr>
          <p:cNvPr id="5" name="Footer Placeholder 4">
            <a:extLst>
              <a:ext uri="{FF2B5EF4-FFF2-40B4-BE49-F238E27FC236}">
                <a16:creationId xmlns:a16="http://schemas.microsoft.com/office/drawing/2014/main" id="{544DB72D-7B67-5AB4-AB6E-3D7B0C09503E}"/>
              </a:ext>
            </a:extLst>
          </p:cNvPr>
          <p:cNvSpPr>
            <a:spLocks noGrp="1"/>
          </p:cNvSpPr>
          <p:nvPr>
            <p:ph type="ftr" sz="quarter" idx="11"/>
          </p:nvPr>
        </p:nvSpPr>
        <p:spPr/>
        <p:txBody>
          <a:bodyPr/>
          <a:lstStyle/>
          <a:p>
            <a:r>
              <a:rPr lang="en-US"/>
              <a:t>Crypto: investing &amp; trading</a:t>
            </a:r>
            <a:endParaRPr lang="en-US" dirty="0"/>
          </a:p>
        </p:txBody>
      </p:sp>
      <p:sp>
        <p:nvSpPr>
          <p:cNvPr id="6" name="Slide Number Placeholder 5">
            <a:extLst>
              <a:ext uri="{FF2B5EF4-FFF2-40B4-BE49-F238E27FC236}">
                <a16:creationId xmlns:a16="http://schemas.microsoft.com/office/drawing/2014/main" id="{179CCD24-4AF1-BAA9-53CA-A1A8A30BC3CD}"/>
              </a:ext>
            </a:extLst>
          </p:cNvPr>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Freeform 15">
            <a:extLst>
              <a:ext uri="{FF2B5EF4-FFF2-40B4-BE49-F238E27FC236}">
                <a16:creationId xmlns:a16="http://schemas.microsoft.com/office/drawing/2014/main" id="{F0A2196F-9622-ECC2-0BEC-979E60A371B3}"/>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8">
            <a:extLst>
              <a:ext uri="{FF2B5EF4-FFF2-40B4-BE49-F238E27FC236}">
                <a16:creationId xmlns:a16="http://schemas.microsoft.com/office/drawing/2014/main" id="{68786482-4B66-CB87-9F30-387C7F01A704}"/>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2">
            <a:extLst>
              <a:ext uri="{FF2B5EF4-FFF2-40B4-BE49-F238E27FC236}">
                <a16:creationId xmlns:a16="http://schemas.microsoft.com/office/drawing/2014/main" id="{4F50B7DB-0D2F-D29D-5306-0A98DC069A8A}"/>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040319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B3646-A430-BE03-FB97-9AC53F4DA33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Z"/>
          </a:p>
        </p:txBody>
      </p:sp>
      <p:sp>
        <p:nvSpPr>
          <p:cNvPr id="3" name="Text Placeholder 2">
            <a:extLst>
              <a:ext uri="{FF2B5EF4-FFF2-40B4-BE49-F238E27FC236}">
                <a16:creationId xmlns:a16="http://schemas.microsoft.com/office/drawing/2014/main" id="{FA013C48-B2C9-72A0-1917-795E8A8199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2DA841C-EE6B-AE76-DFE7-62F71AF61074}"/>
              </a:ext>
            </a:extLst>
          </p:cNvPr>
          <p:cNvSpPr>
            <a:spLocks noGrp="1"/>
          </p:cNvSpPr>
          <p:nvPr>
            <p:ph type="dt" sz="half" idx="10"/>
          </p:nvPr>
        </p:nvSpPr>
        <p:spPr/>
        <p:txBody>
          <a:bodyPr/>
          <a:lstStyle/>
          <a:p>
            <a:fld id="{20EBB0C4-6273-4C6E-B9BD-2EDC30F1CD52}" type="datetimeFigureOut">
              <a:rPr lang="en-US" smtClean="0"/>
              <a:t>1/24/2026</a:t>
            </a:fld>
            <a:endParaRPr lang="en-US" dirty="0"/>
          </a:p>
        </p:txBody>
      </p:sp>
      <p:sp>
        <p:nvSpPr>
          <p:cNvPr id="5" name="Footer Placeholder 4">
            <a:extLst>
              <a:ext uri="{FF2B5EF4-FFF2-40B4-BE49-F238E27FC236}">
                <a16:creationId xmlns:a16="http://schemas.microsoft.com/office/drawing/2014/main" id="{9658E1D1-6D7D-992D-4DBB-D18EB12D78D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2A11713-F948-594D-C2FB-9BB65498F4DD}"/>
              </a:ext>
            </a:extLst>
          </p:cNvPr>
          <p:cNvSpPr>
            <a:spLocks noGrp="1"/>
          </p:cNvSpPr>
          <p:nvPr>
            <p:ph type="sldNum" sz="quarter" idx="12"/>
          </p:nvPr>
        </p:nvSpPr>
        <p:spPr/>
        <p:txBody>
          <a:bodyPr/>
          <a:lstStyle/>
          <a:p>
            <a:fld id="{4FAB73BC-B049-4115-A692-8D63A059BFB8}" type="slidenum">
              <a:rPr lang="en-US" smtClean="0"/>
              <a:t>‹#›</a:t>
            </a:fld>
            <a:endParaRPr lang="en-US" dirty="0"/>
          </a:p>
        </p:txBody>
      </p:sp>
      <p:sp>
        <p:nvSpPr>
          <p:cNvPr id="7" name="Freeform 3">
            <a:extLst>
              <a:ext uri="{FF2B5EF4-FFF2-40B4-BE49-F238E27FC236}">
                <a16:creationId xmlns:a16="http://schemas.microsoft.com/office/drawing/2014/main" id="{CA7D21BB-2335-F60D-57D5-6F5DEBABB8B2}"/>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4">
            <a:extLst>
              <a:ext uri="{FF2B5EF4-FFF2-40B4-BE49-F238E27FC236}">
                <a16:creationId xmlns:a16="http://schemas.microsoft.com/office/drawing/2014/main" id="{0A6A3006-6173-0333-1013-825D9B48FE7C}"/>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5">
            <a:extLst>
              <a:ext uri="{FF2B5EF4-FFF2-40B4-BE49-F238E27FC236}">
                <a16:creationId xmlns:a16="http://schemas.microsoft.com/office/drawing/2014/main" id="{F4F9586F-DD6F-B155-A059-8B63247EAAC6}"/>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6">
            <a:extLst>
              <a:ext uri="{FF2B5EF4-FFF2-40B4-BE49-F238E27FC236}">
                <a16:creationId xmlns:a16="http://schemas.microsoft.com/office/drawing/2014/main" id="{A672C293-A94C-E28C-53E6-BDE0455B1EED}"/>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1" name="Straight Connector 10">
            <a:extLst>
              <a:ext uri="{FF2B5EF4-FFF2-40B4-BE49-F238E27FC236}">
                <a16:creationId xmlns:a16="http://schemas.microsoft.com/office/drawing/2014/main" id="{30FC686F-A42F-446A-7FB5-8898A5E4DF75}"/>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097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7121-2A4B-F2EE-F2BF-83AD176B53E0}"/>
              </a:ext>
            </a:extLst>
          </p:cNvPr>
          <p:cNvSpPr>
            <a:spLocks noGrp="1"/>
          </p:cNvSpPr>
          <p:nvPr>
            <p:ph type="title"/>
          </p:nvPr>
        </p:nvSpPr>
        <p:spPr/>
        <p:txBody>
          <a:bodyPr/>
          <a:lstStyle/>
          <a:p>
            <a:r>
              <a:rPr lang="en-GB"/>
              <a:t>Click to edit Master title style</a:t>
            </a:r>
            <a:endParaRPr lang="en-NZ"/>
          </a:p>
        </p:txBody>
      </p:sp>
      <p:sp>
        <p:nvSpPr>
          <p:cNvPr id="3" name="Content Placeholder 2">
            <a:extLst>
              <a:ext uri="{FF2B5EF4-FFF2-40B4-BE49-F238E27FC236}">
                <a16:creationId xmlns:a16="http://schemas.microsoft.com/office/drawing/2014/main" id="{10925241-54D9-BDA9-653C-A2074F77A6E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Content Placeholder 3">
            <a:extLst>
              <a:ext uri="{FF2B5EF4-FFF2-40B4-BE49-F238E27FC236}">
                <a16:creationId xmlns:a16="http://schemas.microsoft.com/office/drawing/2014/main" id="{A879862C-3362-BD3B-A50D-85115C6551B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5" name="Date Placeholder 4">
            <a:extLst>
              <a:ext uri="{FF2B5EF4-FFF2-40B4-BE49-F238E27FC236}">
                <a16:creationId xmlns:a16="http://schemas.microsoft.com/office/drawing/2014/main" id="{FAFD0B87-394C-FA7D-3313-88C32DDAB94A}"/>
              </a:ext>
            </a:extLst>
          </p:cNvPr>
          <p:cNvSpPr>
            <a:spLocks noGrp="1"/>
          </p:cNvSpPr>
          <p:nvPr>
            <p:ph type="dt" sz="half" idx="10"/>
          </p:nvPr>
        </p:nvSpPr>
        <p:spPr/>
        <p:txBody>
          <a:bodyPr/>
          <a:lstStyle/>
          <a:p>
            <a:fld id="{19AB4D41-86C1-4908-B66A-0B50CEB3BF29}" type="datetimeFigureOut">
              <a:rPr lang="en-US" smtClean="0"/>
              <a:t>1/24/2026</a:t>
            </a:fld>
            <a:endParaRPr lang="en-US" dirty="0"/>
          </a:p>
        </p:txBody>
      </p:sp>
      <p:sp>
        <p:nvSpPr>
          <p:cNvPr id="6" name="Footer Placeholder 5">
            <a:extLst>
              <a:ext uri="{FF2B5EF4-FFF2-40B4-BE49-F238E27FC236}">
                <a16:creationId xmlns:a16="http://schemas.microsoft.com/office/drawing/2014/main" id="{FF7C3282-AC82-FE9B-B7B2-63BBF6AFA754}"/>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B438DDB5-0920-B5A0-3102-236B242E178F}"/>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123783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593E-BBD2-5711-FD5F-469475AD9DB5}"/>
              </a:ext>
            </a:extLst>
          </p:cNvPr>
          <p:cNvSpPr>
            <a:spLocks noGrp="1"/>
          </p:cNvSpPr>
          <p:nvPr>
            <p:ph type="title"/>
          </p:nvPr>
        </p:nvSpPr>
        <p:spPr>
          <a:xfrm>
            <a:off x="839788" y="365125"/>
            <a:ext cx="10515600" cy="1325563"/>
          </a:xfrm>
        </p:spPr>
        <p:txBody>
          <a:bodyPr/>
          <a:lstStyle/>
          <a:p>
            <a:r>
              <a:rPr lang="en-GB"/>
              <a:t>Click to edit Master title style</a:t>
            </a:r>
            <a:endParaRPr lang="en-NZ"/>
          </a:p>
        </p:txBody>
      </p:sp>
      <p:sp>
        <p:nvSpPr>
          <p:cNvPr id="3" name="Text Placeholder 2">
            <a:extLst>
              <a:ext uri="{FF2B5EF4-FFF2-40B4-BE49-F238E27FC236}">
                <a16:creationId xmlns:a16="http://schemas.microsoft.com/office/drawing/2014/main" id="{C071FBEC-EAFB-267A-FB46-10957AB61F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FEF39C5-11D2-1AA6-DA3E-0168BC522C4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5" name="Text Placeholder 4">
            <a:extLst>
              <a:ext uri="{FF2B5EF4-FFF2-40B4-BE49-F238E27FC236}">
                <a16:creationId xmlns:a16="http://schemas.microsoft.com/office/drawing/2014/main" id="{18A84C13-6056-4523-0B18-1FE880BC3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F372522-7ED9-DFA6-A5F2-FDF368EA49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7" name="Date Placeholder 6">
            <a:extLst>
              <a:ext uri="{FF2B5EF4-FFF2-40B4-BE49-F238E27FC236}">
                <a16:creationId xmlns:a16="http://schemas.microsoft.com/office/drawing/2014/main" id="{CA1DCA7B-6D3E-D3AB-0502-196EED03C513}"/>
              </a:ext>
            </a:extLst>
          </p:cNvPr>
          <p:cNvSpPr>
            <a:spLocks noGrp="1"/>
          </p:cNvSpPr>
          <p:nvPr>
            <p:ph type="dt" sz="half" idx="10"/>
          </p:nvPr>
        </p:nvSpPr>
        <p:spPr/>
        <p:txBody>
          <a:bodyPr/>
          <a:lstStyle/>
          <a:p>
            <a:fld id="{E6426E2C-56C1-4E0D-A793-0088A7FDD37E}" type="datetimeFigureOut">
              <a:rPr lang="en-US" smtClean="0"/>
              <a:t>1/24/2026</a:t>
            </a:fld>
            <a:endParaRPr lang="en-US" dirty="0"/>
          </a:p>
        </p:txBody>
      </p:sp>
      <p:sp>
        <p:nvSpPr>
          <p:cNvPr id="8" name="Footer Placeholder 7">
            <a:extLst>
              <a:ext uri="{FF2B5EF4-FFF2-40B4-BE49-F238E27FC236}">
                <a16:creationId xmlns:a16="http://schemas.microsoft.com/office/drawing/2014/main" id="{B2C92DE7-86CD-22FF-48B5-A78A5F3FB512}"/>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6373A191-ACD1-53F6-6561-E8EEDF5969A4}"/>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0" name="Freeform 10">
            <a:extLst>
              <a:ext uri="{FF2B5EF4-FFF2-40B4-BE49-F238E27FC236}">
                <a16:creationId xmlns:a16="http://schemas.microsoft.com/office/drawing/2014/main" id="{AD024DD3-D762-3031-DE10-3272A2F0E8BD}"/>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0CC1BD4A-B1DB-F938-C5AD-9CA55CF4DB91}"/>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D555A56C-5577-590C-19B1-3E1605ADD340}"/>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29007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97526-113A-D481-5D3B-6B29E6669FDC}"/>
              </a:ext>
            </a:extLst>
          </p:cNvPr>
          <p:cNvSpPr>
            <a:spLocks noGrp="1"/>
          </p:cNvSpPr>
          <p:nvPr>
            <p:ph type="title"/>
          </p:nvPr>
        </p:nvSpPr>
        <p:spPr/>
        <p:txBody>
          <a:bodyPr/>
          <a:lstStyle/>
          <a:p>
            <a:r>
              <a:rPr lang="en-GB"/>
              <a:t>Click to edit Master title style</a:t>
            </a:r>
            <a:endParaRPr lang="en-NZ"/>
          </a:p>
        </p:txBody>
      </p:sp>
      <p:sp>
        <p:nvSpPr>
          <p:cNvPr id="3" name="Date Placeholder 2">
            <a:extLst>
              <a:ext uri="{FF2B5EF4-FFF2-40B4-BE49-F238E27FC236}">
                <a16:creationId xmlns:a16="http://schemas.microsoft.com/office/drawing/2014/main" id="{1E9F6E3D-9A7F-74A3-24C6-A312F65B6117}"/>
              </a:ext>
            </a:extLst>
          </p:cNvPr>
          <p:cNvSpPr>
            <a:spLocks noGrp="1"/>
          </p:cNvSpPr>
          <p:nvPr>
            <p:ph type="dt" sz="half" idx="10"/>
          </p:nvPr>
        </p:nvSpPr>
        <p:spPr/>
        <p:txBody>
          <a:bodyPr/>
          <a:lstStyle/>
          <a:p>
            <a:fld id="{C8C39B41-D8B5-4052-B551-9B5525EAA8B6}" type="datetimeFigureOut">
              <a:rPr lang="en-US" smtClean="0"/>
              <a:t>1/24/2026</a:t>
            </a:fld>
            <a:endParaRPr lang="en-US" dirty="0"/>
          </a:p>
        </p:txBody>
      </p:sp>
      <p:sp>
        <p:nvSpPr>
          <p:cNvPr id="4" name="Footer Placeholder 3">
            <a:extLst>
              <a:ext uri="{FF2B5EF4-FFF2-40B4-BE49-F238E27FC236}">
                <a16:creationId xmlns:a16="http://schemas.microsoft.com/office/drawing/2014/main" id="{3AB8E1BB-457D-80FA-1839-B77DFF263F7B}"/>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34E552A5-314F-29CD-37E4-D7698B45C2E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541530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B7236F-D54D-EB1F-8A4A-61B9E895895E}"/>
              </a:ext>
            </a:extLst>
          </p:cNvPr>
          <p:cNvSpPr>
            <a:spLocks noGrp="1"/>
          </p:cNvSpPr>
          <p:nvPr>
            <p:ph type="dt" sz="half" idx="10"/>
          </p:nvPr>
        </p:nvSpPr>
        <p:spPr/>
        <p:txBody>
          <a:bodyPr/>
          <a:lstStyle/>
          <a:p>
            <a:fld id="{4D94136C-8742-45B2-AF27-D93DF72833A9}" type="datetimeFigureOut">
              <a:rPr lang="en-US" smtClean="0"/>
              <a:t>1/24/2026</a:t>
            </a:fld>
            <a:endParaRPr lang="en-US" dirty="0"/>
          </a:p>
        </p:txBody>
      </p:sp>
      <p:sp>
        <p:nvSpPr>
          <p:cNvPr id="3" name="Footer Placeholder 2">
            <a:extLst>
              <a:ext uri="{FF2B5EF4-FFF2-40B4-BE49-F238E27FC236}">
                <a16:creationId xmlns:a16="http://schemas.microsoft.com/office/drawing/2014/main" id="{FF18202F-EEC6-4B98-B759-E0EB62CA93A9}"/>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68E1093D-C86E-7D0E-3B2A-12B9D1CF559E}"/>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16342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237AE-730E-C557-6506-C26AA3DA6F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Z"/>
          </a:p>
        </p:txBody>
      </p:sp>
      <p:sp>
        <p:nvSpPr>
          <p:cNvPr id="3" name="Content Placeholder 2">
            <a:extLst>
              <a:ext uri="{FF2B5EF4-FFF2-40B4-BE49-F238E27FC236}">
                <a16:creationId xmlns:a16="http://schemas.microsoft.com/office/drawing/2014/main" id="{B79F21BB-84C1-F6A9-5AC4-E15D9671DA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Text Placeholder 3">
            <a:extLst>
              <a:ext uri="{FF2B5EF4-FFF2-40B4-BE49-F238E27FC236}">
                <a16:creationId xmlns:a16="http://schemas.microsoft.com/office/drawing/2014/main" id="{5E2A74A2-1DCB-D4F2-2FDB-A2D69D2CC3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4643C9-7F3D-5C3D-191C-C238636DE9F0}"/>
              </a:ext>
            </a:extLst>
          </p:cNvPr>
          <p:cNvSpPr>
            <a:spLocks noGrp="1"/>
          </p:cNvSpPr>
          <p:nvPr>
            <p:ph type="dt" sz="half" idx="10"/>
          </p:nvPr>
        </p:nvSpPr>
        <p:spPr/>
        <p:txBody>
          <a:bodyPr/>
          <a:lstStyle/>
          <a:p>
            <a:fld id="{32ABBEA6-7C60-4B02-AE87-00D78D8422AF}" type="datetimeFigureOut">
              <a:rPr lang="en-US" smtClean="0"/>
              <a:t>1/24/2026</a:t>
            </a:fld>
            <a:endParaRPr lang="en-US" dirty="0"/>
          </a:p>
        </p:txBody>
      </p:sp>
      <p:sp>
        <p:nvSpPr>
          <p:cNvPr id="6" name="Footer Placeholder 5">
            <a:extLst>
              <a:ext uri="{FF2B5EF4-FFF2-40B4-BE49-F238E27FC236}">
                <a16:creationId xmlns:a16="http://schemas.microsoft.com/office/drawing/2014/main" id="{264E0F52-55BB-174C-C17B-6F609A1DEC6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1047C39A-3B71-6CCE-9779-DE744E52616F}"/>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804750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EE37D-414C-4684-A522-548B10853B1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Z"/>
          </a:p>
        </p:txBody>
      </p:sp>
      <p:sp>
        <p:nvSpPr>
          <p:cNvPr id="3" name="Picture Placeholder 2">
            <a:extLst>
              <a:ext uri="{FF2B5EF4-FFF2-40B4-BE49-F238E27FC236}">
                <a16:creationId xmlns:a16="http://schemas.microsoft.com/office/drawing/2014/main" id="{65FB9BE3-5031-8BD2-D3F9-9B8E6B632B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F1A5A6DF-5ACB-05C9-61E1-2D7017E588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1309BE2-C82C-70C8-79B3-5F94F097BF7B}"/>
              </a:ext>
            </a:extLst>
          </p:cNvPr>
          <p:cNvSpPr>
            <a:spLocks noGrp="1"/>
          </p:cNvSpPr>
          <p:nvPr>
            <p:ph type="dt" sz="half" idx="10"/>
          </p:nvPr>
        </p:nvSpPr>
        <p:spPr/>
        <p:txBody>
          <a:bodyPr/>
          <a:lstStyle/>
          <a:p>
            <a:fld id="{C9CAD897-D46E-4AD2-BD9B-49DD3E640873}" type="datetimeFigureOut">
              <a:rPr lang="en-US" smtClean="0"/>
              <a:t>1/24/2026</a:t>
            </a:fld>
            <a:endParaRPr lang="en-US" dirty="0"/>
          </a:p>
        </p:txBody>
      </p:sp>
      <p:sp>
        <p:nvSpPr>
          <p:cNvPr id="6" name="Footer Placeholder 5">
            <a:extLst>
              <a:ext uri="{FF2B5EF4-FFF2-40B4-BE49-F238E27FC236}">
                <a16:creationId xmlns:a16="http://schemas.microsoft.com/office/drawing/2014/main" id="{8615CB16-5279-17CE-3EF6-8EDD885713B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120C8ED7-9F7A-D9BF-5E0C-E6AEBE2CB384}"/>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982770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727B8-F6BC-504C-D7B8-32A06CD96472}"/>
              </a:ext>
            </a:extLst>
          </p:cNvPr>
          <p:cNvSpPr>
            <a:spLocks noGrp="1"/>
          </p:cNvSpPr>
          <p:nvPr>
            <p:ph type="title"/>
          </p:nvPr>
        </p:nvSpPr>
        <p:spPr/>
        <p:txBody>
          <a:bodyPr/>
          <a:lstStyle/>
          <a:p>
            <a:r>
              <a:rPr lang="en-GB"/>
              <a:t>Click to edit Master title style</a:t>
            </a:r>
            <a:endParaRPr lang="en-NZ"/>
          </a:p>
        </p:txBody>
      </p:sp>
      <p:sp>
        <p:nvSpPr>
          <p:cNvPr id="3" name="Vertical Text Placeholder 2">
            <a:extLst>
              <a:ext uri="{FF2B5EF4-FFF2-40B4-BE49-F238E27FC236}">
                <a16:creationId xmlns:a16="http://schemas.microsoft.com/office/drawing/2014/main" id="{9A428868-7EEE-E2DC-FBB8-98B93852396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B80C26BD-52B0-1F97-0CA2-74162291F8FD}"/>
              </a:ext>
            </a:extLst>
          </p:cNvPr>
          <p:cNvSpPr>
            <a:spLocks noGrp="1"/>
          </p:cNvSpPr>
          <p:nvPr>
            <p:ph type="dt" sz="half" idx="10"/>
          </p:nvPr>
        </p:nvSpPr>
        <p:spPr/>
        <p:txBody>
          <a:bodyPr/>
          <a:lstStyle/>
          <a:p>
            <a:fld id="{2E2D6473-DF6D-4702-B328-E0DD40540A4E}" type="datetimeFigureOut">
              <a:rPr lang="en-US" smtClean="0"/>
              <a:t>1/24/2026</a:t>
            </a:fld>
            <a:endParaRPr lang="en-US" dirty="0"/>
          </a:p>
        </p:txBody>
      </p:sp>
      <p:sp>
        <p:nvSpPr>
          <p:cNvPr id="5" name="Footer Placeholder 4">
            <a:extLst>
              <a:ext uri="{FF2B5EF4-FFF2-40B4-BE49-F238E27FC236}">
                <a16:creationId xmlns:a16="http://schemas.microsoft.com/office/drawing/2014/main" id="{C1A232A4-38B8-5637-2665-4F4F2AD33A02}"/>
              </a:ext>
            </a:extLst>
          </p:cNvPr>
          <p:cNvSpPr>
            <a:spLocks noGrp="1"/>
          </p:cNvSpPr>
          <p:nvPr>
            <p:ph type="ftr" sz="quarter" idx="11"/>
          </p:nvPr>
        </p:nvSpPr>
        <p:spPr/>
        <p:txBody>
          <a:bodyPr/>
          <a:lstStyle/>
          <a:p>
            <a:r>
              <a:rPr lang="en-US"/>
              <a:t>Crypto: investing &amp; trading</a:t>
            </a:r>
            <a:endParaRPr lang="en-US" dirty="0"/>
          </a:p>
        </p:txBody>
      </p:sp>
      <p:sp>
        <p:nvSpPr>
          <p:cNvPr id="6" name="Slide Number Placeholder 5">
            <a:extLst>
              <a:ext uri="{FF2B5EF4-FFF2-40B4-BE49-F238E27FC236}">
                <a16:creationId xmlns:a16="http://schemas.microsoft.com/office/drawing/2014/main" id="{A13B908B-E983-41A1-D591-7AC37BAD75D2}"/>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4062514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267BC3-E803-D14A-1535-8CDBBCEAD96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Z"/>
          </a:p>
        </p:txBody>
      </p:sp>
      <p:sp>
        <p:nvSpPr>
          <p:cNvPr id="3" name="Vertical Text Placeholder 2">
            <a:extLst>
              <a:ext uri="{FF2B5EF4-FFF2-40B4-BE49-F238E27FC236}">
                <a16:creationId xmlns:a16="http://schemas.microsoft.com/office/drawing/2014/main" id="{DD4EF13B-E3ED-238F-F100-83830905F73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7CFF2A47-3D1F-1DCD-BD46-BB1D3F5351D9}"/>
              </a:ext>
            </a:extLst>
          </p:cNvPr>
          <p:cNvSpPr>
            <a:spLocks noGrp="1"/>
          </p:cNvSpPr>
          <p:nvPr>
            <p:ph type="dt" sz="half" idx="10"/>
          </p:nvPr>
        </p:nvSpPr>
        <p:spPr/>
        <p:txBody>
          <a:bodyPr/>
          <a:lstStyle/>
          <a:p>
            <a:fld id="{E26F7E3A-B166-407D-9866-32884E7D5B37}" type="datetimeFigureOut">
              <a:rPr lang="en-US" smtClean="0"/>
              <a:t>1/24/2026</a:t>
            </a:fld>
            <a:endParaRPr lang="en-US" dirty="0"/>
          </a:p>
        </p:txBody>
      </p:sp>
      <p:sp>
        <p:nvSpPr>
          <p:cNvPr id="5" name="Footer Placeholder 4">
            <a:extLst>
              <a:ext uri="{FF2B5EF4-FFF2-40B4-BE49-F238E27FC236}">
                <a16:creationId xmlns:a16="http://schemas.microsoft.com/office/drawing/2014/main" id="{7F339025-8E58-FB27-420C-1A8EA0522917}"/>
              </a:ext>
            </a:extLst>
          </p:cNvPr>
          <p:cNvSpPr>
            <a:spLocks noGrp="1"/>
          </p:cNvSpPr>
          <p:nvPr>
            <p:ph type="ftr" sz="quarter" idx="11"/>
          </p:nvPr>
        </p:nvSpPr>
        <p:spPr/>
        <p:txBody>
          <a:bodyPr/>
          <a:lstStyle/>
          <a:p>
            <a:r>
              <a:rPr lang="en-US"/>
              <a:t>Crypto: investing &amp; trading</a:t>
            </a:r>
            <a:endParaRPr lang="en-US" dirty="0"/>
          </a:p>
        </p:txBody>
      </p:sp>
      <p:sp>
        <p:nvSpPr>
          <p:cNvPr id="6" name="Slide Number Placeholder 5">
            <a:extLst>
              <a:ext uri="{FF2B5EF4-FFF2-40B4-BE49-F238E27FC236}">
                <a16:creationId xmlns:a16="http://schemas.microsoft.com/office/drawing/2014/main" id="{ED01CBC1-1345-BD2D-60BC-89375AAA9CD0}"/>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1550248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EFE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9A2574-F0BF-2B32-CD21-477187916C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Z"/>
          </a:p>
        </p:txBody>
      </p:sp>
      <p:sp>
        <p:nvSpPr>
          <p:cNvPr id="3" name="Text Placeholder 2">
            <a:extLst>
              <a:ext uri="{FF2B5EF4-FFF2-40B4-BE49-F238E27FC236}">
                <a16:creationId xmlns:a16="http://schemas.microsoft.com/office/drawing/2014/main" id="{2457146D-0BB0-AA16-8D74-FAF545F142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3C986A6E-77F5-F8F0-4B13-50E5F49CD4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624D31-43A5-475A-80CF-332C9F6DCF35}" type="datetimeFigureOut">
              <a:rPr lang="en-US" smtClean="0"/>
              <a:t>1/24/2026</a:t>
            </a:fld>
            <a:endParaRPr lang="en-US" dirty="0"/>
          </a:p>
        </p:txBody>
      </p:sp>
      <p:sp>
        <p:nvSpPr>
          <p:cNvPr id="5" name="Footer Placeholder 4">
            <a:extLst>
              <a:ext uri="{FF2B5EF4-FFF2-40B4-BE49-F238E27FC236}">
                <a16:creationId xmlns:a16="http://schemas.microsoft.com/office/drawing/2014/main" id="{4D66B630-A851-38FC-830E-1D7FA29A6E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Crypto: investing &amp; trading</a:t>
            </a:r>
            <a:endParaRPr lang="en-US" dirty="0"/>
          </a:p>
        </p:txBody>
      </p:sp>
      <p:sp>
        <p:nvSpPr>
          <p:cNvPr id="6" name="Slide Number Placeholder 5">
            <a:extLst>
              <a:ext uri="{FF2B5EF4-FFF2-40B4-BE49-F238E27FC236}">
                <a16:creationId xmlns:a16="http://schemas.microsoft.com/office/drawing/2014/main" id="{E8A327B5-6694-4F76-CAC7-4309EDA873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4A09A9-5501-47C1-A89A-A340965A2BE2}" type="slidenum">
              <a:rPr lang="en-US" smtClean="0"/>
              <a:pPr/>
              <a:t>‹#›</a:t>
            </a:fld>
            <a:endParaRPr lang="en-US" dirty="0"/>
          </a:p>
        </p:txBody>
      </p:sp>
      <p:cxnSp>
        <p:nvCxnSpPr>
          <p:cNvPr id="7" name="Straight Connector 6">
            <a:extLst>
              <a:ext uri="{FF2B5EF4-FFF2-40B4-BE49-F238E27FC236}">
                <a16:creationId xmlns:a16="http://schemas.microsoft.com/office/drawing/2014/main" id="{EB1235DD-9B3B-64B3-ED6F-F70ACCA5978E}"/>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829425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670" r:id="rId12"/>
    <p:sldLayoutId id="2147483669" r:id="rId13"/>
    <p:sldLayoutId id="2147483666" r:id="rId14"/>
    <p:sldLayoutId id="2147483667"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13.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5" Type="http://schemas.openxmlformats.org/officeDocument/2006/relationships/slide" Target="slide15.xml"/><Relationship Id="rId10" Type="http://schemas.openxmlformats.org/officeDocument/2006/relationships/slide" Target="slide10.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a:xfrm>
            <a:off x="1976266" y="1479759"/>
            <a:ext cx="8239468" cy="2055921"/>
          </a:xfrm>
        </p:spPr>
        <p:txBody>
          <a:bodyPr vert="horz" lIns="91440" tIns="45720" rIns="91440" bIns="45720" rtlCol="0" anchor="ctr">
            <a:normAutofit/>
          </a:bodyPr>
          <a:lstStyle/>
          <a:p>
            <a:r>
              <a:rPr lang="en-US" sz="2800" kern="1200" dirty="0">
                <a:solidFill>
                  <a:schemeClr val="accent1">
                    <a:lumMod val="50000"/>
                  </a:schemeClr>
                </a:solidFill>
                <a:latin typeface="+mn-lt"/>
              </a:rPr>
              <a:t>Sales Performance </a:t>
            </a:r>
            <a:r>
              <a:rPr lang="en-US" sz="2800" dirty="0">
                <a:solidFill>
                  <a:schemeClr val="accent1">
                    <a:lumMod val="50000"/>
                  </a:schemeClr>
                </a:solidFill>
                <a:latin typeface="+mn-lt"/>
              </a:rPr>
              <a:t>A</a:t>
            </a:r>
            <a:r>
              <a:rPr lang="en-US" sz="2800" kern="1200" dirty="0">
                <a:solidFill>
                  <a:schemeClr val="accent1">
                    <a:lumMod val="50000"/>
                  </a:schemeClr>
                </a:solidFill>
                <a:latin typeface="+mn-lt"/>
              </a:rPr>
              <a:t>nalysis</a:t>
            </a:r>
            <a:br>
              <a:rPr lang="en-US" sz="2800" kern="1200" dirty="0">
                <a:solidFill>
                  <a:schemeClr val="accent1">
                    <a:lumMod val="50000"/>
                  </a:schemeClr>
                </a:solidFill>
                <a:latin typeface="+mn-lt"/>
              </a:rPr>
            </a:br>
            <a:br>
              <a:rPr lang="en-US" sz="2800" kern="1200" dirty="0">
                <a:solidFill>
                  <a:schemeClr val="accent1">
                    <a:lumMod val="50000"/>
                  </a:schemeClr>
                </a:solidFill>
                <a:latin typeface="+mn-lt"/>
              </a:rPr>
            </a:br>
            <a:r>
              <a:rPr lang="en-US" sz="2800" kern="1200" dirty="0">
                <a:solidFill>
                  <a:schemeClr val="accent1">
                    <a:lumMod val="50000"/>
                  </a:schemeClr>
                </a:solidFill>
                <a:latin typeface="+mn-lt"/>
              </a:rPr>
              <a:t>A Comparative study of </a:t>
            </a:r>
            <a:r>
              <a:rPr lang="en-US" sz="2800" dirty="0">
                <a:solidFill>
                  <a:schemeClr val="accent1">
                    <a:lumMod val="50000"/>
                  </a:schemeClr>
                </a:solidFill>
                <a:latin typeface="+mn-lt"/>
              </a:rPr>
              <a:t>P</a:t>
            </a:r>
            <a:r>
              <a:rPr lang="en-US" sz="2800" kern="1200" dirty="0">
                <a:solidFill>
                  <a:schemeClr val="accent1">
                    <a:lumMod val="50000"/>
                  </a:schemeClr>
                </a:solidFill>
                <a:latin typeface="+mn-lt"/>
              </a:rPr>
              <a:t>rimary &amp; Secondary dataset</a:t>
            </a:r>
            <a:br>
              <a:rPr lang="en-US" sz="2800" kern="1200" dirty="0">
                <a:solidFill>
                  <a:schemeClr val="accent1">
                    <a:lumMod val="50000"/>
                  </a:schemeClr>
                </a:solidFill>
                <a:latin typeface="+mn-lt"/>
              </a:rPr>
            </a:br>
            <a:br>
              <a:rPr lang="en-US" sz="2800" kern="1200" dirty="0">
                <a:solidFill>
                  <a:schemeClr val="accent1">
                    <a:lumMod val="50000"/>
                  </a:schemeClr>
                </a:solidFill>
                <a:latin typeface="+mn-lt"/>
              </a:rPr>
            </a:br>
            <a:r>
              <a:rPr lang="en-US" sz="2800" kern="1200" dirty="0">
                <a:solidFill>
                  <a:schemeClr val="accent1">
                    <a:lumMod val="50000"/>
                  </a:schemeClr>
                </a:solidFill>
                <a:latin typeface="+mn-lt"/>
              </a:rPr>
              <a:t>Analysis Period: January 2015 – December 2018</a:t>
            </a:r>
          </a:p>
        </p:txBody>
      </p:sp>
      <p:sp>
        <p:nvSpPr>
          <p:cNvPr id="5" name="TextBox 4">
            <a:extLst>
              <a:ext uri="{FF2B5EF4-FFF2-40B4-BE49-F238E27FC236}">
                <a16:creationId xmlns:a16="http://schemas.microsoft.com/office/drawing/2014/main" id="{F89AFF85-00E5-B5C1-FF25-C4776616A1C1}"/>
              </a:ext>
            </a:extLst>
          </p:cNvPr>
          <p:cNvSpPr txBox="1"/>
          <p:nvPr/>
        </p:nvSpPr>
        <p:spPr>
          <a:xfrm>
            <a:off x="7115718" y="4508108"/>
            <a:ext cx="3342640" cy="1916429"/>
          </a:xfrm>
          <a:prstGeom prst="rect">
            <a:avLst/>
          </a:prstGeom>
        </p:spPr>
        <p:txBody>
          <a:bodyPr vert="horz" lIns="91440" tIns="45720" rIns="91440" bIns="45720" rtlCol="0" anchor="ctr">
            <a:normAutofit/>
          </a:bodyPr>
          <a:lstStyle/>
          <a:p>
            <a:pPr>
              <a:lnSpc>
                <a:spcPct val="90000"/>
              </a:lnSpc>
              <a:spcAft>
                <a:spcPts val="600"/>
              </a:spcAft>
            </a:pPr>
            <a:r>
              <a:rPr lang="en-US" sz="2000" dirty="0">
                <a:solidFill>
                  <a:schemeClr val="accent1">
                    <a:lumMod val="50000"/>
                  </a:schemeClr>
                </a:solidFill>
                <a:latin typeface="Aptos" panose="020B0004020202020204" pitchFamily="34" charset="0"/>
              </a:rPr>
              <a:t>Compiled  by 25FT – G2 :</a:t>
            </a:r>
          </a:p>
          <a:p>
            <a:pPr marL="342900" indent="-342900">
              <a:lnSpc>
                <a:spcPct val="90000"/>
              </a:lnSpc>
              <a:spcAft>
                <a:spcPts val="600"/>
              </a:spcAft>
              <a:buFont typeface="Wingdings" panose="05000000000000000000" pitchFamily="2" charset="2"/>
              <a:buChar char="v"/>
            </a:pPr>
            <a:r>
              <a:rPr lang="en-US" sz="2000" dirty="0">
                <a:solidFill>
                  <a:schemeClr val="accent1">
                    <a:lumMod val="50000"/>
                  </a:schemeClr>
                </a:solidFill>
                <a:latin typeface="Aptos" panose="020B0004020202020204" pitchFamily="34" charset="0"/>
              </a:rPr>
              <a:t>Bushra Khan</a:t>
            </a:r>
          </a:p>
          <a:p>
            <a:pPr marL="342900" indent="-342900">
              <a:lnSpc>
                <a:spcPct val="90000"/>
              </a:lnSpc>
              <a:spcAft>
                <a:spcPts val="600"/>
              </a:spcAft>
              <a:buFont typeface="Wingdings" panose="05000000000000000000" pitchFamily="2" charset="2"/>
              <a:buChar char="v"/>
            </a:pPr>
            <a:r>
              <a:rPr lang="en-US" sz="2000" dirty="0">
                <a:solidFill>
                  <a:schemeClr val="accent1">
                    <a:lumMod val="50000"/>
                  </a:schemeClr>
                </a:solidFill>
                <a:latin typeface="Aptos" panose="020B0004020202020204" pitchFamily="34" charset="0"/>
              </a:rPr>
              <a:t>Perpetual Rodrigues</a:t>
            </a:r>
          </a:p>
          <a:p>
            <a:pPr marL="342900" indent="-342900">
              <a:lnSpc>
                <a:spcPct val="90000"/>
              </a:lnSpc>
              <a:spcAft>
                <a:spcPts val="600"/>
              </a:spcAft>
              <a:buFont typeface="Wingdings" panose="05000000000000000000" pitchFamily="2" charset="2"/>
              <a:buChar char="v"/>
            </a:pPr>
            <a:r>
              <a:rPr lang="en-US" sz="2000" dirty="0">
                <a:solidFill>
                  <a:schemeClr val="accent1">
                    <a:lumMod val="50000"/>
                  </a:schemeClr>
                </a:solidFill>
                <a:latin typeface="Aptos" panose="020B0004020202020204" pitchFamily="34" charset="0"/>
              </a:rPr>
              <a:t>Mosiana </a:t>
            </a:r>
            <a:r>
              <a:rPr lang="en-US" sz="2000" dirty="0" err="1">
                <a:solidFill>
                  <a:schemeClr val="accent1">
                    <a:lumMod val="50000"/>
                  </a:schemeClr>
                </a:solidFill>
                <a:latin typeface="Aptos" panose="020B0004020202020204" pitchFamily="34" charset="0"/>
              </a:rPr>
              <a:t>Atiola</a:t>
            </a:r>
            <a:endParaRPr lang="en-US" sz="2000" dirty="0">
              <a:solidFill>
                <a:schemeClr val="accent1">
                  <a:lumMod val="50000"/>
                </a:schemeClr>
              </a:solidFill>
              <a:latin typeface="Aptos" panose="020B0004020202020204" pitchFamily="34" charset="0"/>
            </a:endParaRPr>
          </a:p>
        </p:txBody>
      </p:sp>
      <p:sp>
        <p:nvSpPr>
          <p:cNvPr id="39" name="TextBox 38">
            <a:extLst>
              <a:ext uri="{FF2B5EF4-FFF2-40B4-BE49-F238E27FC236}">
                <a16:creationId xmlns:a16="http://schemas.microsoft.com/office/drawing/2014/main" id="{BD3D4E04-7D3F-DCD7-30F2-C0030A39B51C}"/>
              </a:ext>
            </a:extLst>
          </p:cNvPr>
          <p:cNvSpPr txBox="1"/>
          <p:nvPr/>
        </p:nvSpPr>
        <p:spPr>
          <a:xfrm>
            <a:off x="2099823" y="435174"/>
            <a:ext cx="6955687" cy="649922"/>
          </a:xfrm>
          <a:prstGeom prst="rect">
            <a:avLst/>
          </a:prstGeom>
          <a:noFill/>
        </p:spPr>
        <p:txBody>
          <a:bodyPr wrap="square">
            <a:spAutoFit/>
          </a:bodyPr>
          <a:lstStyle/>
          <a:p>
            <a:pPr algn="ctr">
              <a:lnSpc>
                <a:spcPct val="90000"/>
              </a:lnSpc>
              <a:spcAft>
                <a:spcPts val="600"/>
              </a:spcAft>
            </a:pPr>
            <a:r>
              <a:rPr lang="en-US" sz="4000" b="1" dirty="0">
                <a:solidFill>
                  <a:schemeClr val="tx1">
                    <a:lumMod val="95000"/>
                    <a:lumOff val="5000"/>
                  </a:schemeClr>
                </a:solidFill>
                <a:latin typeface="+mj-lt"/>
              </a:rPr>
              <a:t>MISSION X</a:t>
            </a:r>
          </a:p>
        </p:txBody>
      </p:sp>
      <p:sp>
        <p:nvSpPr>
          <p:cNvPr id="40" name="Right Triangle 39">
            <a:extLst>
              <a:ext uri="{FF2B5EF4-FFF2-40B4-BE49-F238E27FC236}">
                <a16:creationId xmlns:a16="http://schemas.microsoft.com/office/drawing/2014/main" id="{7B39E0C1-0827-1B1C-6707-17410CBCF1A7}"/>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sz="1400">
              <a:solidFill>
                <a:schemeClr val="tx1">
                  <a:lumMod val="95000"/>
                  <a:lumOff val="5000"/>
                </a:schemeClr>
              </a:solidFill>
              <a:latin typeface="Aptos" panose="020B0004020202020204" pitchFamily="34" charset="0"/>
            </a:endParaRPr>
          </a:p>
        </p:txBody>
      </p:sp>
      <p:sp>
        <p:nvSpPr>
          <p:cNvPr id="41" name="Diagonal Stripe 40">
            <a:extLst>
              <a:ext uri="{FF2B5EF4-FFF2-40B4-BE49-F238E27FC236}">
                <a16:creationId xmlns:a16="http://schemas.microsoft.com/office/drawing/2014/main" id="{ABDAA90C-326F-1BC1-FABB-20B284C813F0}"/>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sz="1400">
              <a:solidFill>
                <a:schemeClr val="tx1">
                  <a:lumMod val="95000"/>
                  <a:lumOff val="5000"/>
                </a:schemeClr>
              </a:solidFill>
              <a:latin typeface="Aptos" panose="020B0004020202020204" pitchFamily="34" charset="0"/>
            </a:endParaRPr>
          </a:p>
        </p:txBody>
      </p:sp>
      <p:sp>
        <p:nvSpPr>
          <p:cNvPr id="42" name="Right Triangle 41">
            <a:extLst>
              <a:ext uri="{FF2B5EF4-FFF2-40B4-BE49-F238E27FC236}">
                <a16:creationId xmlns:a16="http://schemas.microsoft.com/office/drawing/2014/main" id="{4B05C044-8E0E-FCB2-3A0F-D2D6E3F64E04}"/>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sz="1400">
              <a:solidFill>
                <a:schemeClr val="tx1">
                  <a:lumMod val="95000"/>
                  <a:lumOff val="5000"/>
                </a:schemeClr>
              </a:solidFill>
              <a:latin typeface="Aptos" panose="020B0004020202020204" pitchFamily="34" charset="0"/>
            </a:endParaRPr>
          </a:p>
        </p:txBody>
      </p:sp>
      <p:sp>
        <p:nvSpPr>
          <p:cNvPr id="43" name="Diagonal Stripe 42">
            <a:extLst>
              <a:ext uri="{FF2B5EF4-FFF2-40B4-BE49-F238E27FC236}">
                <a16:creationId xmlns:a16="http://schemas.microsoft.com/office/drawing/2014/main" id="{A4FC0A55-CD0D-2DAE-8CBD-49EF76811674}"/>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sz="1400">
              <a:solidFill>
                <a:schemeClr val="tx1">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3157332" y="383408"/>
            <a:ext cx="4992428" cy="696223"/>
          </a:xfrm>
        </p:spPr>
        <p:txBody>
          <a:bodyPr>
            <a:normAutofit/>
          </a:bodyPr>
          <a:lstStyle/>
          <a:p>
            <a:pPr algn="ctr"/>
            <a:r>
              <a:rPr lang="en-US" sz="4000" b="1" spc="600" dirty="0">
                <a:ln w="28575">
                  <a:noFill/>
                  <a:prstDash val="solid"/>
                </a:ln>
                <a:solidFill>
                  <a:schemeClr val="tx1">
                    <a:lumMod val="95000"/>
                    <a:lumOff val="5000"/>
                  </a:schemeClr>
                </a:solidFill>
              </a:rPr>
              <a:t>CONTENTS</a:t>
            </a:r>
            <a:endParaRPr lang="en-US"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2479485" y="1175668"/>
            <a:ext cx="7187383" cy="4851112"/>
          </a:xfrm>
        </p:spPr>
        <p:txBody>
          <a:bodyPr anchor="ctr">
            <a:noAutofit/>
          </a:bodyPr>
          <a:lstStyle/>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3" action="ppaction://hlinksldjump"/>
              </a:rPr>
              <a:t>Executive Summary </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4" action="ppaction://hlinksldjump"/>
              </a:rPr>
              <a:t>Introduction &amp; Objectives</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5" action="ppaction://hlinksldjump"/>
              </a:rPr>
              <a:t>Data Source</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6" action="ppaction://hlinksldjump"/>
              </a:rPr>
              <a:t>Methodology </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7" action="ppaction://hlinksldjump"/>
              </a:rPr>
              <a:t>Dashboard Overview</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8" action="ppaction://hlinksldjump"/>
              </a:rPr>
              <a:t>Primary Sales Performance</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9" action="ppaction://hlinksldjump"/>
              </a:rPr>
              <a:t>Secondary Sales Performance</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10" action="ppaction://hlinksldjump"/>
              </a:rPr>
              <a:t>Product Performance Analysis</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11" action="ppaction://hlinksldjump"/>
              </a:rPr>
              <a:t>Regional Performance Analysis</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12" action="ppaction://hlinksldjump"/>
              </a:rPr>
              <a:t>Time Intelligence Analysis</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13" action="ppaction://hlinksldjump"/>
              </a:rPr>
              <a:t>90-Day Forecast Analysis</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14" action="ppaction://hlinksldjump"/>
              </a:rPr>
              <a:t>Conclusions</a:t>
            </a:r>
            <a:endParaRPr lang="en-US" sz="1600" dirty="0">
              <a:solidFill>
                <a:schemeClr val="accent1">
                  <a:lumMod val="50000"/>
                </a:schemeClr>
              </a:solidFill>
              <a:cs typeface="Segoe UI Light" panose="020B0502040204020203" pitchFamily="34" charset="0"/>
            </a:endParaRPr>
          </a:p>
          <a:p>
            <a:pPr>
              <a:lnSpc>
                <a:spcPct val="100000"/>
              </a:lnSpc>
              <a:buClr>
                <a:schemeClr val="accent6"/>
              </a:buClr>
              <a:buFont typeface="Courier New" panose="02070309020205020404" pitchFamily="49" charset="0"/>
              <a:buChar char="o"/>
            </a:pPr>
            <a:r>
              <a:rPr lang="en-US" sz="1600" dirty="0">
                <a:solidFill>
                  <a:schemeClr val="accent1">
                    <a:lumMod val="50000"/>
                  </a:schemeClr>
                </a:solidFill>
                <a:cs typeface="Segoe UI Light" panose="020B0502040204020203" pitchFamily="34" charset="0"/>
                <a:hlinkClick r:id="rId15" action="ppaction://hlinksldjump"/>
              </a:rPr>
              <a:t>Recommendations</a:t>
            </a:r>
            <a:endParaRPr lang="en-US" sz="1600" dirty="0">
              <a:solidFill>
                <a:schemeClr val="tx1">
                  <a:lumMod val="95000"/>
                  <a:lumOff val="5000"/>
                </a:schemeClr>
              </a:solidFill>
              <a:cs typeface="Segoe UI Light" panose="020B0502040204020203" pitchFamily="34" charset="0"/>
            </a:endParaRPr>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2"/>
          </p:nvPr>
        </p:nvSpPr>
        <p:spPr/>
        <p:txBody>
          <a:bodyPr/>
          <a:lstStyle/>
          <a:p>
            <a:r>
              <a:rPr lang="en-US" dirty="0">
                <a:solidFill>
                  <a:schemeClr val="tx1">
                    <a:lumMod val="95000"/>
                    <a:lumOff val="5000"/>
                  </a:schemeClr>
                </a:solidFill>
              </a:rPr>
              <a:t>2</a:t>
            </a:r>
          </a:p>
        </p:txBody>
      </p:sp>
      <p:sp>
        <p:nvSpPr>
          <p:cNvPr id="4" name="Right Triangle 3">
            <a:extLst>
              <a:ext uri="{FF2B5EF4-FFF2-40B4-BE49-F238E27FC236}">
                <a16:creationId xmlns:a16="http://schemas.microsoft.com/office/drawing/2014/main" id="{5AF4C19D-B2DC-6835-801F-AFBFBC5C8D44}"/>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Right Triangle 5">
            <a:extLst>
              <a:ext uri="{FF2B5EF4-FFF2-40B4-BE49-F238E27FC236}">
                <a16:creationId xmlns:a16="http://schemas.microsoft.com/office/drawing/2014/main" id="{4EC6CBA7-6E65-98B0-B00A-43B4A900B23E}"/>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 name="Diagonal Stripe 6">
            <a:extLst>
              <a:ext uri="{FF2B5EF4-FFF2-40B4-BE49-F238E27FC236}">
                <a16:creationId xmlns:a16="http://schemas.microsoft.com/office/drawing/2014/main" id="{7B29DF7B-96CA-49EE-B96E-884115FDF9E1}"/>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8" name="Diagonal Stripe 7">
            <a:extLst>
              <a:ext uri="{FF2B5EF4-FFF2-40B4-BE49-F238E27FC236}">
                <a16:creationId xmlns:a16="http://schemas.microsoft.com/office/drawing/2014/main" id="{EBA43148-A44D-B72F-EA53-8BBF86BDCA51}"/>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title"/>
          </p:nvPr>
        </p:nvSpPr>
        <p:spPr>
          <a:xfrm>
            <a:off x="2733369" y="468841"/>
            <a:ext cx="6322142" cy="736088"/>
          </a:xfrm>
        </p:spPr>
        <p:txBody>
          <a:bodyPr anchor="b">
            <a:noAutofit/>
          </a:bodyPr>
          <a:lstStyle/>
          <a:p>
            <a:pPr algn="ctr"/>
            <a:r>
              <a:rPr lang="en-US" sz="4000" b="1" dirty="0"/>
              <a:t>EXECUTIVE SUMMARY</a:t>
            </a:r>
          </a:p>
        </p:txBody>
      </p:sp>
      <p:sp>
        <p:nvSpPr>
          <p:cNvPr id="3" name="Subtitle 2">
            <a:extLst>
              <a:ext uri="{FF2B5EF4-FFF2-40B4-BE49-F238E27FC236}">
                <a16:creationId xmlns:a16="http://schemas.microsoft.com/office/drawing/2014/main" id="{5A82A8B0-333F-633E-3FA7-D38DBFB10971}"/>
              </a:ext>
            </a:extLst>
          </p:cNvPr>
          <p:cNvSpPr>
            <a:spLocks noGrp="1"/>
          </p:cNvSpPr>
          <p:nvPr>
            <p:ph idx="1"/>
          </p:nvPr>
        </p:nvSpPr>
        <p:spPr>
          <a:xfrm>
            <a:off x="1280962" y="1128323"/>
            <a:ext cx="9660194" cy="4568545"/>
          </a:xfrm>
        </p:spPr>
        <p:txBody>
          <a:bodyPr anchor="ctr">
            <a:noAutofit/>
          </a:bodyPr>
          <a:lstStyle/>
          <a:p>
            <a:pPr marL="0" indent="0" algn="just">
              <a:lnSpc>
                <a:spcPct val="100000"/>
              </a:lnSpc>
              <a:buNone/>
            </a:pPr>
            <a:r>
              <a:rPr lang="en-US" sz="1400" dirty="0"/>
              <a:t>This report compares sales performance using two independent datasets (Primary &amp; Secondary) from 2015-2018 to guide strategic decision-making.</a:t>
            </a:r>
          </a:p>
          <a:p>
            <a:pPr marL="0" indent="0" algn="just">
              <a:lnSpc>
                <a:spcPct val="150000"/>
              </a:lnSpc>
              <a:buNone/>
            </a:pPr>
            <a:r>
              <a:rPr lang="en-US" sz="1400" b="1" dirty="0"/>
              <a:t>Key Insights</a:t>
            </a:r>
            <a:r>
              <a:rPr lang="en-US" sz="1400" dirty="0"/>
              <a:t> :</a:t>
            </a:r>
          </a:p>
          <a:p>
            <a:pPr algn="just">
              <a:lnSpc>
                <a:spcPct val="100000"/>
              </a:lnSpc>
            </a:pPr>
            <a:r>
              <a:rPr lang="en-US" sz="1400" dirty="0"/>
              <a:t>Primary Dataset shows a smaller, declining operation with $1.9m in sales (a 1.09% decrease). It is highly concentrated in the UK (92.9%) and peaks seasonally in July.</a:t>
            </a:r>
          </a:p>
          <a:p>
            <a:pPr algn="just">
              <a:lnSpc>
                <a:spcPct val="100000"/>
              </a:lnSpc>
            </a:pPr>
            <a:r>
              <a:rPr lang="en-US" sz="1400" dirty="0"/>
              <a:t>Secondary Dataset is the growth engine, with $14m in sales – over 7 times larger than Primary. It is globally diversified, with strong sales in the US, China &amp; UK and peaks in December.</a:t>
            </a:r>
          </a:p>
          <a:p>
            <a:pPr algn="just">
              <a:lnSpc>
                <a:spcPct val="100000"/>
              </a:lnSpc>
            </a:pPr>
            <a:r>
              <a:rPr lang="en-US" sz="1400" dirty="0"/>
              <a:t>The core insight is a major scale disparity. Secondary operates at a much larger volume and is growing, while Primary is smaller and declining.</a:t>
            </a:r>
          </a:p>
          <a:p>
            <a:pPr marL="0" indent="0" algn="just">
              <a:lnSpc>
                <a:spcPct val="150000"/>
              </a:lnSpc>
              <a:buNone/>
            </a:pPr>
            <a:r>
              <a:rPr lang="en-US" sz="1400" b="1" dirty="0"/>
              <a:t>Recommendations</a:t>
            </a:r>
            <a:r>
              <a:rPr lang="en-US" sz="1400" dirty="0"/>
              <a:t>: </a:t>
            </a:r>
          </a:p>
          <a:p>
            <a:pPr marL="0" indent="0" algn="just">
              <a:lnSpc>
                <a:spcPct val="100000"/>
              </a:lnSpc>
              <a:buNone/>
            </a:pPr>
            <a:r>
              <a:rPr lang="en-US" sz="1400" dirty="0"/>
              <a:t>Follow a two-part strategy.</a:t>
            </a:r>
          </a:p>
          <a:p>
            <a:pPr marL="171450" indent="-171450" algn="just">
              <a:lnSpc>
                <a:spcPct val="100000"/>
              </a:lnSpc>
            </a:pPr>
            <a:r>
              <a:rPr lang="en-US" sz="1400" dirty="0"/>
              <a:t>Stabilize the Primary business by optimizing its seasonal European focus to reverse its decline.</a:t>
            </a:r>
          </a:p>
          <a:p>
            <a:pPr marL="171450" indent="-171450" algn="just">
              <a:lnSpc>
                <a:spcPct val="100000"/>
              </a:lnSpc>
            </a:pPr>
            <a:r>
              <a:rPr lang="en-US" sz="1400" dirty="0"/>
              <a:t>Accelerate the Secondary business by scaling its successful electronics and global model, targeting 15% growth in 2019.</a:t>
            </a:r>
          </a:p>
        </p:txBody>
      </p:sp>
      <p:sp>
        <p:nvSpPr>
          <p:cNvPr id="26" name="Slide Number Placeholder 5">
            <a:extLst>
              <a:ext uri="{FF2B5EF4-FFF2-40B4-BE49-F238E27FC236}">
                <a16:creationId xmlns:a16="http://schemas.microsoft.com/office/drawing/2014/main" id="{6E3BD934-9B9C-D71F-EC4D-4E338963417B}"/>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3</a:t>
            </a:fld>
            <a:endParaRPr lang="en-US"/>
          </a:p>
        </p:txBody>
      </p:sp>
      <p:sp>
        <p:nvSpPr>
          <p:cNvPr id="4" name="Right Triangle 3">
            <a:extLst>
              <a:ext uri="{FF2B5EF4-FFF2-40B4-BE49-F238E27FC236}">
                <a16:creationId xmlns:a16="http://schemas.microsoft.com/office/drawing/2014/main" id="{C1FBC973-274C-118E-2C79-89BB82B27CC4}"/>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 name="Right Triangle 4">
            <a:extLst>
              <a:ext uri="{FF2B5EF4-FFF2-40B4-BE49-F238E27FC236}">
                <a16:creationId xmlns:a16="http://schemas.microsoft.com/office/drawing/2014/main" id="{41227007-70D8-EC9C-C7F9-C7362EEDE819}"/>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239ABDD1-653C-A328-C988-0998A7686A30}"/>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7" name="Diagonal Stripe 6">
            <a:extLst>
              <a:ext uri="{FF2B5EF4-FFF2-40B4-BE49-F238E27FC236}">
                <a16:creationId xmlns:a16="http://schemas.microsoft.com/office/drawing/2014/main" id="{A320F5D5-2618-8E64-6912-9438D46E3F3A}"/>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02E55DC-B6A7-6379-F051-6B62CC503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9E24D-5F18-5C9A-20C0-B192DAC2A307}"/>
              </a:ext>
            </a:extLst>
          </p:cNvPr>
          <p:cNvSpPr>
            <a:spLocks noGrp="1"/>
          </p:cNvSpPr>
          <p:nvPr>
            <p:ph type="ctrTitle"/>
          </p:nvPr>
        </p:nvSpPr>
        <p:spPr>
          <a:xfrm>
            <a:off x="1982716" y="347066"/>
            <a:ext cx="8013290" cy="873203"/>
          </a:xfrm>
        </p:spPr>
        <p:txBody>
          <a:bodyPr anchor="ctr">
            <a:normAutofit/>
          </a:bodyPr>
          <a:lstStyle/>
          <a:p>
            <a:r>
              <a:rPr lang="en-US" sz="4000" b="1" dirty="0"/>
              <a:t>INTRODUCTION &amp; OBJECTIVES</a:t>
            </a:r>
          </a:p>
        </p:txBody>
      </p:sp>
      <p:sp>
        <p:nvSpPr>
          <p:cNvPr id="3" name="Subtitle 2">
            <a:extLst>
              <a:ext uri="{FF2B5EF4-FFF2-40B4-BE49-F238E27FC236}">
                <a16:creationId xmlns:a16="http://schemas.microsoft.com/office/drawing/2014/main" id="{B5FCFD3F-C07F-58FC-19D5-154436571E02}"/>
              </a:ext>
            </a:extLst>
          </p:cNvPr>
          <p:cNvSpPr>
            <a:spLocks noGrp="1"/>
          </p:cNvSpPr>
          <p:nvPr>
            <p:ph type="subTitle" idx="1"/>
          </p:nvPr>
        </p:nvSpPr>
        <p:spPr>
          <a:xfrm>
            <a:off x="2067061" y="1065684"/>
            <a:ext cx="8640267" cy="4726632"/>
          </a:xfrm>
        </p:spPr>
        <p:txBody>
          <a:bodyPr anchor="ctr">
            <a:normAutofit/>
          </a:bodyPr>
          <a:lstStyle/>
          <a:p>
            <a:pPr algn="just">
              <a:lnSpc>
                <a:spcPct val="150000"/>
              </a:lnSpc>
            </a:pPr>
            <a:r>
              <a:rPr lang="en-US" sz="1600" b="1" dirty="0"/>
              <a:t>Project Background:</a:t>
            </a:r>
          </a:p>
          <a:p>
            <a:pPr algn="just">
              <a:lnSpc>
                <a:spcPct val="100000"/>
              </a:lnSpc>
            </a:pPr>
            <a:r>
              <a:rPr lang="en-US" sz="1400" dirty="0"/>
              <a:t>Mission X is a sales performance analysis comparing two independent business units over the same period (2015-2018) to identify improvement opportunities.</a:t>
            </a:r>
          </a:p>
          <a:p>
            <a:pPr algn="just">
              <a:lnSpc>
                <a:spcPct val="150000"/>
              </a:lnSpc>
            </a:pPr>
            <a:r>
              <a:rPr lang="en-US" sz="1600" b="1" dirty="0"/>
              <a:t>Analytical Objectives:</a:t>
            </a:r>
          </a:p>
          <a:p>
            <a:pPr marL="285750" indent="-285750" algn="just">
              <a:lnSpc>
                <a:spcPct val="100000"/>
              </a:lnSpc>
              <a:buFont typeface="Arial" panose="020B0604020202020204" pitchFamily="34" charset="0"/>
              <a:buChar char="•"/>
            </a:pPr>
            <a:r>
              <a:rPr lang="en-US" sz="1400" dirty="0"/>
              <a:t>Compare performance across Primary &amp; Secondary datasets</a:t>
            </a:r>
          </a:p>
          <a:p>
            <a:pPr marL="285750" indent="-285750" algn="just">
              <a:lnSpc>
                <a:spcPct val="100000"/>
              </a:lnSpc>
              <a:buFont typeface="Arial" panose="020B0604020202020204" pitchFamily="34" charset="0"/>
              <a:buChar char="•"/>
            </a:pPr>
            <a:r>
              <a:rPr lang="en-US" sz="1400" dirty="0"/>
              <a:t>Identify root causes of Primary’s decline vs. Secondary’s growth in sales</a:t>
            </a:r>
          </a:p>
          <a:p>
            <a:pPr marL="285750" indent="-285750" algn="just">
              <a:lnSpc>
                <a:spcPct val="100000"/>
              </a:lnSpc>
              <a:buFont typeface="Arial" panose="020B0604020202020204" pitchFamily="34" charset="0"/>
              <a:buChar char="•"/>
            </a:pPr>
            <a:r>
              <a:rPr lang="en-US" sz="1400" dirty="0"/>
              <a:t>Forecast 90-day performance using historical trends</a:t>
            </a:r>
          </a:p>
          <a:p>
            <a:pPr marL="285750" indent="-285750" algn="just">
              <a:lnSpc>
                <a:spcPct val="100000"/>
              </a:lnSpc>
              <a:buFont typeface="Arial" panose="020B0604020202020204" pitchFamily="34" charset="0"/>
              <a:buChar char="•"/>
            </a:pPr>
            <a:r>
              <a:rPr lang="en-US" sz="1400" dirty="0"/>
              <a:t>Provide strategic recommendations</a:t>
            </a:r>
          </a:p>
          <a:p>
            <a:pPr algn="just">
              <a:lnSpc>
                <a:spcPct val="150000"/>
              </a:lnSpc>
            </a:pPr>
            <a:r>
              <a:rPr lang="en-US" sz="1600" b="1" dirty="0"/>
              <a:t>Scope &amp; Limitations:</a:t>
            </a:r>
          </a:p>
          <a:p>
            <a:pPr marL="171450" indent="-171450" algn="just">
              <a:lnSpc>
                <a:spcPct val="100000"/>
              </a:lnSpc>
              <a:buFont typeface="Arial" panose="020B0604020202020204" pitchFamily="34" charset="0"/>
              <a:buChar char="•"/>
            </a:pPr>
            <a:r>
              <a:rPr lang="en-US" sz="1400" dirty="0"/>
              <a:t>Time period: 2015-2018</a:t>
            </a:r>
          </a:p>
          <a:p>
            <a:pPr marL="171450" indent="-171450" algn="just">
              <a:lnSpc>
                <a:spcPct val="100000"/>
              </a:lnSpc>
              <a:buFont typeface="Arial" panose="020B0604020202020204" pitchFamily="34" charset="0"/>
              <a:buChar char="•"/>
            </a:pPr>
            <a:r>
              <a:rPr lang="en-US" sz="1400" dirty="0"/>
              <a:t>Data – Complete transactional records for both datasets</a:t>
            </a:r>
          </a:p>
          <a:p>
            <a:pPr marL="171450" indent="-171450" algn="just">
              <a:lnSpc>
                <a:spcPct val="100000"/>
              </a:lnSpc>
              <a:buFont typeface="Arial" panose="020B0604020202020204" pitchFamily="34" charset="0"/>
              <a:buChar char="•"/>
            </a:pPr>
            <a:r>
              <a:rPr lang="en-US" sz="1400" dirty="0"/>
              <a:t>Limitations – independent datasets</a:t>
            </a:r>
          </a:p>
        </p:txBody>
      </p:sp>
      <p:sp>
        <p:nvSpPr>
          <p:cNvPr id="4" name="Right Triangle 3">
            <a:extLst>
              <a:ext uri="{FF2B5EF4-FFF2-40B4-BE49-F238E27FC236}">
                <a16:creationId xmlns:a16="http://schemas.microsoft.com/office/drawing/2014/main" id="{66BCFA0D-0E99-2F20-D94A-8A5EDBEFA5A1}"/>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 name="Right Triangle 4">
            <a:extLst>
              <a:ext uri="{FF2B5EF4-FFF2-40B4-BE49-F238E27FC236}">
                <a16:creationId xmlns:a16="http://schemas.microsoft.com/office/drawing/2014/main" id="{3A04D9DE-41CE-A80E-6639-796C5A4D6460}"/>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AB5F28DA-FF4E-5EF1-DBA8-0BFF8082D35B}"/>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7" name="Diagonal Stripe 6">
            <a:extLst>
              <a:ext uri="{FF2B5EF4-FFF2-40B4-BE49-F238E27FC236}">
                <a16:creationId xmlns:a16="http://schemas.microsoft.com/office/drawing/2014/main" id="{0C7B61CB-02E0-A1E9-12C2-FFA8E97534B1}"/>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8" name="Slide Number Placeholder 5">
            <a:extLst>
              <a:ext uri="{FF2B5EF4-FFF2-40B4-BE49-F238E27FC236}">
                <a16:creationId xmlns:a16="http://schemas.microsoft.com/office/drawing/2014/main" id="{8165DA21-91BA-31CF-A48D-8E726577662D}"/>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294A09A9-5501-47C1-A89A-A340965A2BE2}" type="slidenum">
              <a:rPr lang="en-US" smtClean="0"/>
              <a:pPr>
                <a:spcAft>
                  <a:spcPts val="600"/>
                </a:spcAft>
              </a:pPr>
              <a:t>4</a:t>
            </a:fld>
            <a:endParaRPr lang="en-US"/>
          </a:p>
        </p:txBody>
      </p:sp>
    </p:spTree>
    <p:extLst>
      <p:ext uri="{BB962C8B-B14F-4D97-AF65-F5344CB8AC3E}">
        <p14:creationId xmlns:p14="http://schemas.microsoft.com/office/powerpoint/2010/main" val="550001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5CA395-A107-6A5C-FC4C-67B3A82F8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74742-053A-FCF0-AB15-13569B24437B}"/>
              </a:ext>
            </a:extLst>
          </p:cNvPr>
          <p:cNvSpPr>
            <a:spLocks noGrp="1"/>
          </p:cNvSpPr>
          <p:nvPr>
            <p:ph type="title"/>
          </p:nvPr>
        </p:nvSpPr>
        <p:spPr>
          <a:xfrm>
            <a:off x="3855877" y="651275"/>
            <a:ext cx="4147984" cy="764471"/>
          </a:xfrm>
        </p:spPr>
        <p:txBody>
          <a:bodyPr anchor="b">
            <a:noAutofit/>
          </a:bodyPr>
          <a:lstStyle/>
          <a:p>
            <a:pPr algn="ctr"/>
            <a:r>
              <a:rPr lang="en-US" sz="4000" b="1" dirty="0"/>
              <a:t>DATA SOURCE</a:t>
            </a:r>
          </a:p>
        </p:txBody>
      </p:sp>
      <p:sp>
        <p:nvSpPr>
          <p:cNvPr id="13" name="Slide Number Placeholder 3">
            <a:extLst>
              <a:ext uri="{FF2B5EF4-FFF2-40B4-BE49-F238E27FC236}">
                <a16:creationId xmlns:a16="http://schemas.microsoft.com/office/drawing/2014/main" id="{5C87EBF6-9A9D-89E1-1218-1B71BFC0C455}"/>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5</a:t>
            </a:fld>
            <a:endParaRPr lang="en-US"/>
          </a:p>
        </p:txBody>
      </p:sp>
      <p:graphicFrame>
        <p:nvGraphicFramePr>
          <p:cNvPr id="4" name="Table 3">
            <a:extLst>
              <a:ext uri="{FF2B5EF4-FFF2-40B4-BE49-F238E27FC236}">
                <a16:creationId xmlns:a16="http://schemas.microsoft.com/office/drawing/2014/main" id="{57FDC336-A68B-4EDE-BCD7-9652DB8D68CD}"/>
              </a:ext>
            </a:extLst>
          </p:cNvPr>
          <p:cNvGraphicFramePr>
            <a:graphicFrameLocks noGrp="1"/>
          </p:cNvGraphicFramePr>
          <p:nvPr>
            <p:extLst>
              <p:ext uri="{D42A27DB-BD31-4B8C-83A1-F6EECF244321}">
                <p14:modId xmlns:p14="http://schemas.microsoft.com/office/powerpoint/2010/main" val="2013573665"/>
              </p:ext>
            </p:extLst>
          </p:nvPr>
        </p:nvGraphicFramePr>
        <p:xfrm>
          <a:off x="2884931" y="2196198"/>
          <a:ext cx="6422137" cy="3198762"/>
        </p:xfrm>
        <a:graphic>
          <a:graphicData uri="http://schemas.openxmlformats.org/drawingml/2006/table">
            <a:tbl>
              <a:tblPr firstRow="1" bandRow="1">
                <a:tableStyleId>{5C22544A-7EE6-4342-B048-85BDC9FD1C3A}</a:tableStyleId>
              </a:tblPr>
              <a:tblGrid>
                <a:gridCol w="1630287">
                  <a:extLst>
                    <a:ext uri="{9D8B030D-6E8A-4147-A177-3AD203B41FA5}">
                      <a16:colId xmlns:a16="http://schemas.microsoft.com/office/drawing/2014/main" val="1965321963"/>
                    </a:ext>
                  </a:extLst>
                </a:gridCol>
                <a:gridCol w="2628750">
                  <a:extLst>
                    <a:ext uri="{9D8B030D-6E8A-4147-A177-3AD203B41FA5}">
                      <a16:colId xmlns:a16="http://schemas.microsoft.com/office/drawing/2014/main" val="986512428"/>
                    </a:ext>
                  </a:extLst>
                </a:gridCol>
                <a:gridCol w="2163100">
                  <a:extLst>
                    <a:ext uri="{9D8B030D-6E8A-4147-A177-3AD203B41FA5}">
                      <a16:colId xmlns:a16="http://schemas.microsoft.com/office/drawing/2014/main" val="3521407552"/>
                    </a:ext>
                  </a:extLst>
                </a:gridCol>
              </a:tblGrid>
              <a:tr h="533127">
                <a:tc>
                  <a:txBody>
                    <a:bodyPr/>
                    <a:lstStyle/>
                    <a:p>
                      <a:r>
                        <a:rPr lang="en-NZ" sz="2400" dirty="0"/>
                        <a:t>Dataset</a:t>
                      </a:r>
                    </a:p>
                  </a:txBody>
                  <a:tcPr marL="126219" marR="126219" marT="63110" marB="63110"/>
                </a:tc>
                <a:tc>
                  <a:txBody>
                    <a:bodyPr/>
                    <a:lstStyle/>
                    <a:p>
                      <a:r>
                        <a:rPr lang="en-NZ" sz="2400" dirty="0"/>
                        <a:t>Primary</a:t>
                      </a:r>
                    </a:p>
                  </a:txBody>
                  <a:tcPr marL="126219" marR="126219" marT="63110" marB="63110"/>
                </a:tc>
                <a:tc>
                  <a:txBody>
                    <a:bodyPr/>
                    <a:lstStyle/>
                    <a:p>
                      <a:r>
                        <a:rPr lang="en-NZ" sz="2400" dirty="0"/>
                        <a:t>Secondary</a:t>
                      </a:r>
                    </a:p>
                  </a:txBody>
                  <a:tcPr marL="126219" marR="126219" marT="63110" marB="63110"/>
                </a:tc>
                <a:extLst>
                  <a:ext uri="{0D108BD9-81ED-4DB2-BD59-A6C34878D82A}">
                    <a16:rowId xmlns:a16="http://schemas.microsoft.com/office/drawing/2014/main" val="2431137214"/>
                  </a:ext>
                </a:extLst>
              </a:tr>
              <a:tr h="533127">
                <a:tc>
                  <a:txBody>
                    <a:bodyPr/>
                    <a:lstStyle/>
                    <a:p>
                      <a:r>
                        <a:rPr lang="en-NZ" sz="2400"/>
                        <a:t>Source</a:t>
                      </a:r>
                    </a:p>
                  </a:txBody>
                  <a:tcPr marL="126219" marR="126219" marT="63110" marB="63110"/>
                </a:tc>
                <a:tc>
                  <a:txBody>
                    <a:bodyPr/>
                    <a:lstStyle/>
                    <a:p>
                      <a:r>
                        <a:rPr lang="en-NZ" sz="2400"/>
                        <a:t>Mission X</a:t>
                      </a:r>
                    </a:p>
                  </a:txBody>
                  <a:tcPr marL="126219" marR="126219" marT="63110" marB="63110"/>
                </a:tc>
                <a:tc>
                  <a:txBody>
                    <a:bodyPr/>
                    <a:lstStyle/>
                    <a:p>
                      <a:r>
                        <a:rPr lang="en-NZ" sz="2400"/>
                        <a:t>E-commerce</a:t>
                      </a:r>
                    </a:p>
                  </a:txBody>
                  <a:tcPr marL="126219" marR="126219" marT="63110" marB="63110"/>
                </a:tc>
                <a:extLst>
                  <a:ext uri="{0D108BD9-81ED-4DB2-BD59-A6C34878D82A}">
                    <a16:rowId xmlns:a16="http://schemas.microsoft.com/office/drawing/2014/main" val="3340552540"/>
                  </a:ext>
                </a:extLst>
              </a:tr>
              <a:tr h="533127">
                <a:tc>
                  <a:txBody>
                    <a:bodyPr/>
                    <a:lstStyle/>
                    <a:p>
                      <a:r>
                        <a:rPr lang="en-NZ" sz="2400"/>
                        <a:t>Period</a:t>
                      </a:r>
                    </a:p>
                  </a:txBody>
                  <a:tcPr marL="126219" marR="126219" marT="63110" marB="63110"/>
                </a:tc>
                <a:tc>
                  <a:txBody>
                    <a:bodyPr/>
                    <a:lstStyle/>
                    <a:p>
                      <a:r>
                        <a:rPr lang="en-NZ" sz="2400"/>
                        <a:t>2015-2018</a:t>
                      </a:r>
                    </a:p>
                  </a:txBody>
                  <a:tcPr marL="126219" marR="126219" marT="63110" marB="63110"/>
                </a:tc>
                <a:tc>
                  <a:txBody>
                    <a:bodyPr/>
                    <a:lstStyle/>
                    <a:p>
                      <a:r>
                        <a:rPr lang="en-NZ" sz="2400"/>
                        <a:t>2015-2018</a:t>
                      </a:r>
                    </a:p>
                  </a:txBody>
                  <a:tcPr marL="126219" marR="126219" marT="63110" marB="63110"/>
                </a:tc>
                <a:extLst>
                  <a:ext uri="{0D108BD9-81ED-4DB2-BD59-A6C34878D82A}">
                    <a16:rowId xmlns:a16="http://schemas.microsoft.com/office/drawing/2014/main" val="1274813978"/>
                  </a:ext>
                </a:extLst>
              </a:tr>
              <a:tr h="533127">
                <a:tc>
                  <a:txBody>
                    <a:bodyPr/>
                    <a:lstStyle/>
                    <a:p>
                      <a:r>
                        <a:rPr lang="en-NZ" sz="2400"/>
                        <a:t>Sales</a:t>
                      </a:r>
                    </a:p>
                  </a:txBody>
                  <a:tcPr marL="126219" marR="126219" marT="63110" marB="63110"/>
                </a:tc>
                <a:tc>
                  <a:txBody>
                    <a:bodyPr/>
                    <a:lstStyle/>
                    <a:p>
                      <a:r>
                        <a:rPr lang="en-NZ" sz="2400"/>
                        <a:t>$1.9m</a:t>
                      </a:r>
                    </a:p>
                  </a:txBody>
                  <a:tcPr marL="126219" marR="126219" marT="63110" marB="63110"/>
                </a:tc>
                <a:tc>
                  <a:txBody>
                    <a:bodyPr/>
                    <a:lstStyle/>
                    <a:p>
                      <a:r>
                        <a:rPr lang="en-NZ" sz="2400"/>
                        <a:t>$14m</a:t>
                      </a:r>
                    </a:p>
                  </a:txBody>
                  <a:tcPr marL="126219" marR="126219" marT="63110" marB="63110"/>
                </a:tc>
                <a:extLst>
                  <a:ext uri="{0D108BD9-81ED-4DB2-BD59-A6C34878D82A}">
                    <a16:rowId xmlns:a16="http://schemas.microsoft.com/office/drawing/2014/main" val="3954577231"/>
                  </a:ext>
                </a:extLst>
              </a:tr>
              <a:tr h="533127">
                <a:tc>
                  <a:txBody>
                    <a:bodyPr/>
                    <a:lstStyle/>
                    <a:p>
                      <a:r>
                        <a:rPr lang="en-NZ" sz="2400"/>
                        <a:t>Products</a:t>
                      </a:r>
                    </a:p>
                  </a:txBody>
                  <a:tcPr marL="126219" marR="126219" marT="63110" marB="63110"/>
                </a:tc>
                <a:tc>
                  <a:txBody>
                    <a:bodyPr/>
                    <a:lstStyle/>
                    <a:p>
                      <a:r>
                        <a:rPr lang="en-NZ" sz="2400"/>
                        <a:t>Christmas items</a:t>
                      </a:r>
                    </a:p>
                  </a:txBody>
                  <a:tcPr marL="126219" marR="126219" marT="63110" marB="63110"/>
                </a:tc>
                <a:tc>
                  <a:txBody>
                    <a:bodyPr/>
                    <a:lstStyle/>
                    <a:p>
                      <a:r>
                        <a:rPr lang="en-NZ" sz="2400"/>
                        <a:t>Electronics</a:t>
                      </a:r>
                    </a:p>
                  </a:txBody>
                  <a:tcPr marL="126219" marR="126219" marT="63110" marB="63110"/>
                </a:tc>
                <a:extLst>
                  <a:ext uri="{0D108BD9-81ED-4DB2-BD59-A6C34878D82A}">
                    <a16:rowId xmlns:a16="http://schemas.microsoft.com/office/drawing/2014/main" val="4039349382"/>
                  </a:ext>
                </a:extLst>
              </a:tr>
              <a:tr h="533127">
                <a:tc>
                  <a:txBody>
                    <a:bodyPr/>
                    <a:lstStyle/>
                    <a:p>
                      <a:r>
                        <a:rPr lang="en-NZ" sz="2400"/>
                        <a:t>Markets</a:t>
                      </a:r>
                    </a:p>
                  </a:txBody>
                  <a:tcPr marL="126219" marR="126219" marT="63110" marB="63110"/>
                </a:tc>
                <a:tc>
                  <a:txBody>
                    <a:bodyPr/>
                    <a:lstStyle/>
                    <a:p>
                      <a:r>
                        <a:rPr lang="en-NZ" sz="2400"/>
                        <a:t>Europe-focused</a:t>
                      </a:r>
                    </a:p>
                  </a:txBody>
                  <a:tcPr marL="126219" marR="126219" marT="63110" marB="63110"/>
                </a:tc>
                <a:tc>
                  <a:txBody>
                    <a:bodyPr/>
                    <a:lstStyle/>
                    <a:p>
                      <a:r>
                        <a:rPr lang="en-NZ" sz="2400" dirty="0"/>
                        <a:t>Global</a:t>
                      </a:r>
                    </a:p>
                  </a:txBody>
                  <a:tcPr marL="126219" marR="126219" marT="63110" marB="63110"/>
                </a:tc>
                <a:extLst>
                  <a:ext uri="{0D108BD9-81ED-4DB2-BD59-A6C34878D82A}">
                    <a16:rowId xmlns:a16="http://schemas.microsoft.com/office/drawing/2014/main" val="512633202"/>
                  </a:ext>
                </a:extLst>
              </a:tr>
            </a:tbl>
          </a:graphicData>
        </a:graphic>
      </p:graphicFrame>
      <p:sp>
        <p:nvSpPr>
          <p:cNvPr id="3" name="Right Triangle 2">
            <a:extLst>
              <a:ext uri="{FF2B5EF4-FFF2-40B4-BE49-F238E27FC236}">
                <a16:creationId xmlns:a16="http://schemas.microsoft.com/office/drawing/2014/main" id="{29E380BE-E81C-5F42-7BF5-8725F2571FCE}"/>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 name="Right Triangle 4">
            <a:extLst>
              <a:ext uri="{FF2B5EF4-FFF2-40B4-BE49-F238E27FC236}">
                <a16:creationId xmlns:a16="http://schemas.microsoft.com/office/drawing/2014/main" id="{5284C1C4-EA40-324F-0B71-C169828744D2}"/>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50D55393-82C7-A0DA-F124-EC392C6FF882}"/>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7" name="Diagonal Stripe 6">
            <a:extLst>
              <a:ext uri="{FF2B5EF4-FFF2-40B4-BE49-F238E27FC236}">
                <a16:creationId xmlns:a16="http://schemas.microsoft.com/office/drawing/2014/main" id="{F63A982B-CC35-A8BF-1185-929593D2074B}"/>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3848719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0007BD-B526-2107-5D73-37C805264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C5857-DB2B-D6BA-F44A-8257D786E57F}"/>
              </a:ext>
            </a:extLst>
          </p:cNvPr>
          <p:cNvSpPr>
            <a:spLocks noGrp="1"/>
          </p:cNvSpPr>
          <p:nvPr>
            <p:ph type="title"/>
          </p:nvPr>
        </p:nvSpPr>
        <p:spPr>
          <a:xfrm>
            <a:off x="3490451" y="497919"/>
            <a:ext cx="4944397" cy="677749"/>
          </a:xfrm>
        </p:spPr>
        <p:txBody>
          <a:bodyPr anchor="b">
            <a:normAutofit/>
          </a:bodyPr>
          <a:lstStyle/>
          <a:p>
            <a:pPr algn="ctr"/>
            <a:r>
              <a:rPr lang="en-US" sz="4000" b="1" dirty="0"/>
              <a:t>METHODOLOGY</a:t>
            </a:r>
          </a:p>
        </p:txBody>
      </p:sp>
      <p:sp>
        <p:nvSpPr>
          <p:cNvPr id="28" name="Subtitle 2">
            <a:extLst>
              <a:ext uri="{FF2B5EF4-FFF2-40B4-BE49-F238E27FC236}">
                <a16:creationId xmlns:a16="http://schemas.microsoft.com/office/drawing/2014/main" id="{28284D14-A37E-558E-490B-5ACB69BDF6E9}"/>
              </a:ext>
            </a:extLst>
          </p:cNvPr>
          <p:cNvSpPr>
            <a:spLocks noGrp="1"/>
          </p:cNvSpPr>
          <p:nvPr>
            <p:ph idx="1"/>
          </p:nvPr>
        </p:nvSpPr>
        <p:spPr>
          <a:xfrm>
            <a:off x="3215992" y="1247657"/>
            <a:ext cx="6262304" cy="5364331"/>
          </a:xfrm>
        </p:spPr>
        <p:txBody>
          <a:bodyPr anchor="ctr">
            <a:noAutofit/>
          </a:bodyPr>
          <a:lstStyle/>
          <a:p>
            <a:pPr marL="171450" indent="-171450" algn="just">
              <a:lnSpc>
                <a:spcPct val="100000"/>
              </a:lnSpc>
              <a:buFont typeface="Arial" panose="020B0604020202020204" pitchFamily="34" charset="0"/>
              <a:buChar char="•"/>
            </a:pPr>
            <a:r>
              <a:rPr lang="en-US" sz="1600" b="1" dirty="0"/>
              <a:t>Processing</a:t>
            </a:r>
            <a:r>
              <a:rPr lang="en-US" sz="1400" dirty="0"/>
              <a:t>: </a:t>
            </a:r>
          </a:p>
          <a:p>
            <a:pPr marL="628650" lvl="1" indent="-171450" algn="just">
              <a:lnSpc>
                <a:spcPct val="100000"/>
              </a:lnSpc>
            </a:pPr>
            <a:r>
              <a:rPr lang="en-US" sz="1400" dirty="0"/>
              <a:t>Each dataset cleaned independently</a:t>
            </a:r>
          </a:p>
          <a:p>
            <a:pPr marL="171450" indent="-171450" algn="just">
              <a:lnSpc>
                <a:spcPct val="100000"/>
              </a:lnSpc>
              <a:buFont typeface="Arial" panose="020B0604020202020204" pitchFamily="34" charset="0"/>
              <a:buChar char="•"/>
            </a:pPr>
            <a:r>
              <a:rPr lang="en-US" sz="1600" b="1" dirty="0"/>
              <a:t>Analysis</a:t>
            </a:r>
            <a:r>
              <a:rPr lang="en-US" sz="1400" dirty="0"/>
              <a:t>: </a:t>
            </a:r>
          </a:p>
          <a:p>
            <a:pPr marL="628650" lvl="1" indent="-171450" algn="just">
              <a:lnSpc>
                <a:spcPct val="100000"/>
              </a:lnSpc>
            </a:pPr>
            <a:r>
              <a:rPr lang="en-US" sz="1400" dirty="0"/>
              <a:t>Side-by-side comparative evaluation</a:t>
            </a:r>
          </a:p>
          <a:p>
            <a:pPr marL="171450" indent="-171450" algn="just">
              <a:lnSpc>
                <a:spcPct val="100000"/>
              </a:lnSpc>
              <a:buFont typeface="Arial" panose="020B0604020202020204" pitchFamily="34" charset="0"/>
              <a:buChar char="•"/>
            </a:pPr>
            <a:r>
              <a:rPr lang="en-US" sz="1600" b="1" dirty="0"/>
              <a:t>Validation</a:t>
            </a:r>
            <a:r>
              <a:rPr lang="en-US" sz="1400" dirty="0"/>
              <a:t>: </a:t>
            </a:r>
          </a:p>
          <a:p>
            <a:pPr marL="628650" lvl="1" indent="-171450" algn="just">
              <a:lnSpc>
                <a:spcPct val="100000"/>
              </a:lnSpc>
            </a:pPr>
            <a:r>
              <a:rPr lang="en-US" sz="1400" dirty="0"/>
              <a:t>Cross-dataset trend confirmation</a:t>
            </a:r>
          </a:p>
          <a:p>
            <a:pPr marL="171450" indent="-171450" algn="just">
              <a:lnSpc>
                <a:spcPct val="100000"/>
              </a:lnSpc>
              <a:buFont typeface="Arial" panose="020B0604020202020204" pitchFamily="34" charset="0"/>
              <a:buChar char="•"/>
            </a:pPr>
            <a:r>
              <a:rPr lang="en-US" sz="1600" b="1" dirty="0"/>
              <a:t>Visualization</a:t>
            </a:r>
            <a:r>
              <a:rPr lang="en-US" sz="1400" dirty="0"/>
              <a:t>: </a:t>
            </a:r>
          </a:p>
          <a:p>
            <a:pPr marL="628650" lvl="1" indent="-171450" algn="just">
              <a:lnSpc>
                <a:spcPct val="100000"/>
              </a:lnSpc>
            </a:pPr>
            <a:r>
              <a:rPr lang="en-US" sz="1400" dirty="0"/>
              <a:t>Parallel Power BI dashboards</a:t>
            </a:r>
          </a:p>
          <a:p>
            <a:pPr marL="171450" indent="-171450" algn="just">
              <a:lnSpc>
                <a:spcPct val="100000"/>
              </a:lnSpc>
              <a:buFont typeface="Arial" panose="020B0604020202020204" pitchFamily="34" charset="0"/>
              <a:buChar char="•"/>
            </a:pPr>
            <a:r>
              <a:rPr lang="en-US" sz="1600" b="1" dirty="0"/>
              <a:t>Insights</a:t>
            </a:r>
            <a:r>
              <a:rPr lang="en-US" sz="1400" dirty="0"/>
              <a:t>:</a:t>
            </a:r>
          </a:p>
          <a:p>
            <a:pPr marL="628650" lvl="1" indent="-171450" algn="just">
              <a:lnSpc>
                <a:spcPct val="100000"/>
              </a:lnSpc>
            </a:pPr>
            <a:r>
              <a:rPr lang="en-US" sz="1400" dirty="0"/>
              <a:t>Comparative without data blending</a:t>
            </a:r>
          </a:p>
          <a:p>
            <a:pPr algn="just">
              <a:lnSpc>
                <a:spcPct val="100000"/>
              </a:lnSpc>
            </a:pPr>
            <a:r>
              <a:rPr lang="en-US" sz="1600" b="1" dirty="0"/>
              <a:t>Tools</a:t>
            </a:r>
            <a:r>
              <a:rPr lang="en-US" sz="1400" b="1" dirty="0"/>
              <a:t>:</a:t>
            </a:r>
          </a:p>
          <a:p>
            <a:pPr lvl="1" algn="just">
              <a:lnSpc>
                <a:spcPct val="100000"/>
              </a:lnSpc>
            </a:pPr>
            <a:r>
              <a:rPr lang="en-US" sz="1400" dirty="0"/>
              <a:t>Power BI</a:t>
            </a:r>
          </a:p>
          <a:p>
            <a:pPr lvl="1" algn="just">
              <a:lnSpc>
                <a:spcPct val="100000"/>
              </a:lnSpc>
            </a:pPr>
            <a:r>
              <a:rPr lang="en-US" sz="1400" dirty="0"/>
              <a:t>DAX measures</a:t>
            </a:r>
          </a:p>
          <a:p>
            <a:pPr lvl="1" algn="just">
              <a:lnSpc>
                <a:spcPct val="100000"/>
              </a:lnSpc>
            </a:pPr>
            <a:r>
              <a:rPr lang="en-US" sz="1400" dirty="0"/>
              <a:t>Custom dashboards</a:t>
            </a:r>
          </a:p>
          <a:p>
            <a:pPr lvl="1" algn="just">
              <a:lnSpc>
                <a:spcPct val="100000"/>
              </a:lnSpc>
            </a:pPr>
            <a:r>
              <a:rPr lang="en-US" sz="1400" dirty="0"/>
              <a:t>Time series forecasting</a:t>
            </a:r>
          </a:p>
        </p:txBody>
      </p:sp>
      <p:sp>
        <p:nvSpPr>
          <p:cNvPr id="8" name="Slide Number Placeholder 3">
            <a:extLst>
              <a:ext uri="{FF2B5EF4-FFF2-40B4-BE49-F238E27FC236}">
                <a16:creationId xmlns:a16="http://schemas.microsoft.com/office/drawing/2014/main" id="{146CFFA9-658B-D187-FEE4-030E9248141A}"/>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6</a:t>
            </a:fld>
            <a:endParaRPr lang="en-US"/>
          </a:p>
        </p:txBody>
      </p:sp>
      <p:sp>
        <p:nvSpPr>
          <p:cNvPr id="3" name="Right Triangle 2">
            <a:extLst>
              <a:ext uri="{FF2B5EF4-FFF2-40B4-BE49-F238E27FC236}">
                <a16:creationId xmlns:a16="http://schemas.microsoft.com/office/drawing/2014/main" id="{9B21130F-DD19-0177-E44C-B71CFEC4F058}"/>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Right Triangle 3">
            <a:extLst>
              <a:ext uri="{FF2B5EF4-FFF2-40B4-BE49-F238E27FC236}">
                <a16:creationId xmlns:a16="http://schemas.microsoft.com/office/drawing/2014/main" id="{F6E04527-CDF1-DBE8-DBEC-39BB47B1555C}"/>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 name="Diagonal Stripe 4">
            <a:extLst>
              <a:ext uri="{FF2B5EF4-FFF2-40B4-BE49-F238E27FC236}">
                <a16:creationId xmlns:a16="http://schemas.microsoft.com/office/drawing/2014/main" id="{32732763-13E9-8DCF-46EB-F3FFC73211DF}"/>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6" name="Diagonal Stripe 5">
            <a:extLst>
              <a:ext uri="{FF2B5EF4-FFF2-40B4-BE49-F238E27FC236}">
                <a16:creationId xmlns:a16="http://schemas.microsoft.com/office/drawing/2014/main" id="{B84BA303-AFCA-1A87-C449-536C5DEE32CE}"/>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57532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a:xfrm>
            <a:off x="1238865" y="303690"/>
            <a:ext cx="7913738" cy="775417"/>
          </a:xfrm>
        </p:spPr>
        <p:txBody>
          <a:bodyPr anchor="ctr">
            <a:normAutofit/>
          </a:bodyPr>
          <a:lstStyle/>
          <a:p>
            <a:pPr algn="ctr"/>
            <a:r>
              <a:rPr lang="en-US" sz="4000" b="1" dirty="0"/>
              <a:t>DASHBOARD OVERVIEW</a:t>
            </a:r>
          </a:p>
        </p:txBody>
      </p:sp>
      <p:sp>
        <p:nvSpPr>
          <p:cNvPr id="3" name="Subtitle 2">
            <a:extLst>
              <a:ext uri="{FF2B5EF4-FFF2-40B4-BE49-F238E27FC236}">
                <a16:creationId xmlns:a16="http://schemas.microsoft.com/office/drawing/2014/main" id="{C05FF0B8-5B51-7376-0271-8D849CA3F8A8}"/>
              </a:ext>
            </a:extLst>
          </p:cNvPr>
          <p:cNvSpPr>
            <a:spLocks noGrp="1"/>
          </p:cNvSpPr>
          <p:nvPr>
            <p:ph sz="half" idx="1"/>
          </p:nvPr>
        </p:nvSpPr>
        <p:spPr>
          <a:xfrm>
            <a:off x="427215" y="1463040"/>
            <a:ext cx="5181600" cy="2720340"/>
          </a:xfrm>
        </p:spPr>
        <p:txBody>
          <a:bodyPr>
            <a:noAutofit/>
          </a:bodyPr>
          <a:lstStyle/>
          <a:p>
            <a:pPr marL="0" indent="0" algn="just">
              <a:lnSpc>
                <a:spcPct val="100000"/>
              </a:lnSpc>
              <a:buNone/>
            </a:pPr>
            <a:r>
              <a:rPr lang="en-US" sz="1600" b="1" dirty="0"/>
              <a:t>Mission X Dashboard Navigation</a:t>
            </a:r>
          </a:p>
          <a:p>
            <a:pPr marL="457200" indent="-457200" algn="just">
              <a:lnSpc>
                <a:spcPct val="100000"/>
              </a:lnSpc>
              <a:buFont typeface="+mj-lt"/>
              <a:buAutoNum type="arabicPeriod"/>
            </a:pPr>
            <a:r>
              <a:rPr lang="en-US" sz="1400" dirty="0"/>
              <a:t>Overview (Comparative Summary)</a:t>
            </a:r>
          </a:p>
          <a:p>
            <a:pPr marL="457200" indent="-457200" algn="just">
              <a:lnSpc>
                <a:spcPct val="100000"/>
              </a:lnSpc>
              <a:buFont typeface="+mj-lt"/>
              <a:buAutoNum type="arabicPeriod"/>
            </a:pPr>
            <a:r>
              <a:rPr lang="en-US" sz="1400" dirty="0"/>
              <a:t>Primary Sales Performance</a:t>
            </a:r>
          </a:p>
          <a:p>
            <a:pPr marL="457200" indent="-457200" algn="just">
              <a:lnSpc>
                <a:spcPct val="100000"/>
              </a:lnSpc>
              <a:buFont typeface="+mj-lt"/>
              <a:buAutoNum type="arabicPeriod"/>
            </a:pPr>
            <a:r>
              <a:rPr lang="en-US" sz="1400" dirty="0"/>
              <a:t>Secondary Sales Performance</a:t>
            </a:r>
          </a:p>
          <a:p>
            <a:pPr marL="457200" indent="-457200" algn="just">
              <a:lnSpc>
                <a:spcPct val="100000"/>
              </a:lnSpc>
              <a:buFont typeface="+mj-lt"/>
              <a:buAutoNum type="arabicPeriod"/>
            </a:pPr>
            <a:r>
              <a:rPr lang="en-US" sz="1400" dirty="0"/>
              <a:t>Product Performance Analysis</a:t>
            </a:r>
          </a:p>
          <a:p>
            <a:pPr marL="457200" indent="-457200" algn="just">
              <a:lnSpc>
                <a:spcPct val="100000"/>
              </a:lnSpc>
              <a:buFont typeface="+mj-lt"/>
              <a:buAutoNum type="arabicPeriod"/>
            </a:pPr>
            <a:r>
              <a:rPr lang="en-US" sz="1400" dirty="0"/>
              <a:t>Regional Performance Analysis</a:t>
            </a:r>
          </a:p>
          <a:p>
            <a:pPr marL="457200" indent="-457200" algn="just">
              <a:lnSpc>
                <a:spcPct val="100000"/>
              </a:lnSpc>
              <a:buFont typeface="+mj-lt"/>
              <a:buAutoNum type="arabicPeriod"/>
            </a:pPr>
            <a:r>
              <a:rPr lang="en-US" sz="1400" dirty="0"/>
              <a:t>Time Intelligence (YTD Analysis)</a:t>
            </a:r>
          </a:p>
          <a:p>
            <a:pPr marL="457200" indent="-457200" algn="just">
              <a:lnSpc>
                <a:spcPct val="100000"/>
              </a:lnSpc>
              <a:buFont typeface="+mj-lt"/>
              <a:buAutoNum type="arabicPeriod"/>
            </a:pPr>
            <a:r>
              <a:rPr lang="en-US" sz="1400" dirty="0"/>
              <a:t>90-Day Forecast</a:t>
            </a:r>
          </a:p>
          <a:p>
            <a:pPr marL="457200" indent="-457200" algn="just">
              <a:lnSpc>
                <a:spcPct val="100000"/>
              </a:lnSpc>
              <a:buFont typeface="+mj-lt"/>
              <a:buAutoNum type="arabicPeriod"/>
            </a:pPr>
            <a:endParaRPr lang="en-US" sz="1400" dirty="0"/>
          </a:p>
          <a:p>
            <a:pPr marL="171450" indent="-171450" algn="just">
              <a:lnSpc>
                <a:spcPct val="100000"/>
              </a:lnSpc>
              <a:buFont typeface="Arial" panose="020B0604020202020204" pitchFamily="34" charset="0"/>
              <a:buChar char="•"/>
            </a:pPr>
            <a:endParaRPr lang="en-US" sz="1400" dirty="0"/>
          </a:p>
        </p:txBody>
      </p:sp>
      <p:sp>
        <p:nvSpPr>
          <p:cNvPr id="12" name="Slide Number Placeholder 5">
            <a:extLst>
              <a:ext uri="{FF2B5EF4-FFF2-40B4-BE49-F238E27FC236}">
                <a16:creationId xmlns:a16="http://schemas.microsoft.com/office/drawing/2014/main" id="{4591B7A6-BDD2-1F2C-D389-EAB10E34BAF2}"/>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7</a:t>
            </a:fld>
            <a:endParaRPr lang="en-US"/>
          </a:p>
        </p:txBody>
      </p:sp>
      <p:pic>
        <p:nvPicPr>
          <p:cNvPr id="7" name="Picture 6">
            <a:extLst>
              <a:ext uri="{FF2B5EF4-FFF2-40B4-BE49-F238E27FC236}">
                <a16:creationId xmlns:a16="http://schemas.microsoft.com/office/drawing/2014/main" id="{06E7C280-2838-6A4F-38F4-8B998E6EB51C}"/>
              </a:ext>
            </a:extLst>
          </p:cNvPr>
          <p:cNvPicPr>
            <a:picLocks noChangeAspect="1"/>
          </p:cNvPicPr>
          <p:nvPr/>
        </p:nvPicPr>
        <p:blipFill>
          <a:blip r:embed="rId3"/>
          <a:stretch>
            <a:fillRect/>
          </a:stretch>
        </p:blipFill>
        <p:spPr>
          <a:xfrm>
            <a:off x="6019800" y="1463040"/>
            <a:ext cx="5181600" cy="2720339"/>
          </a:xfrm>
          <a:prstGeom prst="rect">
            <a:avLst/>
          </a:prstGeom>
          <a:noFill/>
        </p:spPr>
      </p:pic>
      <p:sp>
        <p:nvSpPr>
          <p:cNvPr id="4" name="Right Triangle 3">
            <a:extLst>
              <a:ext uri="{FF2B5EF4-FFF2-40B4-BE49-F238E27FC236}">
                <a16:creationId xmlns:a16="http://schemas.microsoft.com/office/drawing/2014/main" id="{C31DC883-7179-9C5B-C90A-FB750CCF9503}"/>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 name="Right Triangle 4">
            <a:extLst>
              <a:ext uri="{FF2B5EF4-FFF2-40B4-BE49-F238E27FC236}">
                <a16:creationId xmlns:a16="http://schemas.microsoft.com/office/drawing/2014/main" id="{88657CA6-A6FF-3EF5-6F21-EB684F839E5C}"/>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EED7CD03-8956-C1DF-9AA8-4BBC7543390C}"/>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8" name="Diagonal Stripe 7">
            <a:extLst>
              <a:ext uri="{FF2B5EF4-FFF2-40B4-BE49-F238E27FC236}">
                <a16:creationId xmlns:a16="http://schemas.microsoft.com/office/drawing/2014/main" id="{375BCB15-643F-61AA-FEDA-51DD243CB5F0}"/>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9" name="TextBox 8">
            <a:extLst>
              <a:ext uri="{FF2B5EF4-FFF2-40B4-BE49-F238E27FC236}">
                <a16:creationId xmlns:a16="http://schemas.microsoft.com/office/drawing/2014/main" id="{B4BE172D-5900-E4B0-355E-C2B3C2A29207}"/>
              </a:ext>
            </a:extLst>
          </p:cNvPr>
          <p:cNvSpPr txBox="1"/>
          <p:nvPr/>
        </p:nvSpPr>
        <p:spPr>
          <a:xfrm>
            <a:off x="3293807" y="4212430"/>
            <a:ext cx="5702709" cy="2369623"/>
          </a:xfrm>
          <a:prstGeom prst="rect">
            <a:avLst/>
          </a:prstGeom>
          <a:noFill/>
        </p:spPr>
        <p:txBody>
          <a:bodyPr wrap="square" rtlCol="0" anchor="ctr">
            <a:spAutoFit/>
          </a:bodyPr>
          <a:lstStyle/>
          <a:p>
            <a:pPr algn="just">
              <a:lnSpc>
                <a:spcPct val="150000"/>
              </a:lnSpc>
            </a:pPr>
            <a:r>
              <a:rPr lang="en-US" sz="1600" b="1" dirty="0"/>
              <a:t>Dashboard Design</a:t>
            </a:r>
            <a:r>
              <a:rPr lang="en-US" sz="1400" dirty="0"/>
              <a:t>:</a:t>
            </a:r>
          </a:p>
          <a:p>
            <a:pPr marL="171450" indent="-171450" algn="just">
              <a:lnSpc>
                <a:spcPct val="150000"/>
              </a:lnSpc>
              <a:buFont typeface="Arial" panose="020B0604020202020204" pitchFamily="34" charset="0"/>
              <a:buChar char="•"/>
            </a:pPr>
            <a:r>
              <a:rPr lang="en-US" sz="1400" dirty="0"/>
              <a:t>Consistent layout – parallel structure for easy comparison</a:t>
            </a:r>
          </a:p>
          <a:p>
            <a:pPr marL="171450" indent="-171450" algn="just">
              <a:lnSpc>
                <a:spcPct val="150000"/>
              </a:lnSpc>
              <a:buFont typeface="Arial" panose="020B0604020202020204" pitchFamily="34" charset="0"/>
              <a:buChar char="•"/>
            </a:pPr>
            <a:r>
              <a:rPr lang="en-US" sz="1400" dirty="0"/>
              <a:t>Color coding – Blue theme for Primary, Yellow for Secondary</a:t>
            </a:r>
          </a:p>
          <a:p>
            <a:pPr marL="171450" indent="-171450" algn="just">
              <a:lnSpc>
                <a:spcPct val="150000"/>
              </a:lnSpc>
              <a:buFont typeface="Arial" panose="020B0604020202020204" pitchFamily="34" charset="0"/>
              <a:buChar char="•"/>
            </a:pPr>
            <a:r>
              <a:rPr lang="en-US" sz="1400" dirty="0"/>
              <a:t>Geographic Mapping – Regional performance</a:t>
            </a:r>
          </a:p>
          <a:p>
            <a:pPr marL="171450" indent="-171450" algn="just">
              <a:lnSpc>
                <a:spcPct val="150000"/>
              </a:lnSpc>
              <a:buFont typeface="Arial" panose="020B0604020202020204" pitchFamily="34" charset="0"/>
              <a:buChar char="•"/>
            </a:pPr>
            <a:r>
              <a:rPr lang="en-US" sz="1400" dirty="0"/>
              <a:t>Time Intelligence – Year-over-year comparisons</a:t>
            </a:r>
          </a:p>
          <a:p>
            <a:pPr marL="171450" indent="-171450" algn="just">
              <a:lnSpc>
                <a:spcPct val="150000"/>
              </a:lnSpc>
              <a:buFont typeface="Arial" panose="020B0604020202020204" pitchFamily="34" charset="0"/>
              <a:buChar char="•"/>
            </a:pPr>
            <a:r>
              <a:rPr lang="en-US" sz="1400" dirty="0"/>
              <a:t>Forecast Visualization – 90-day predictive modelling</a:t>
            </a:r>
          </a:p>
          <a:p>
            <a:pPr marL="171450" indent="-171450" algn="just">
              <a:lnSpc>
                <a:spcPct val="150000"/>
              </a:lnSpc>
              <a:buFont typeface="Arial" panose="020B0604020202020204" pitchFamily="34" charset="0"/>
              <a:buChar char="•"/>
            </a:pPr>
            <a:endParaRPr lang="en-US" sz="1400" dirty="0"/>
          </a:p>
        </p:txBody>
      </p:sp>
    </p:spTree>
    <p:extLst>
      <p:ext uri="{BB962C8B-B14F-4D97-AF65-F5344CB8AC3E}">
        <p14:creationId xmlns:p14="http://schemas.microsoft.com/office/powerpoint/2010/main" val="548476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a:xfrm>
            <a:off x="698090" y="324532"/>
            <a:ext cx="8968778" cy="710760"/>
          </a:xfrm>
        </p:spPr>
        <p:txBody>
          <a:bodyPr anchor="ctr">
            <a:noAutofit/>
          </a:bodyPr>
          <a:lstStyle/>
          <a:p>
            <a:pPr algn="ctr"/>
            <a:r>
              <a:rPr lang="en-US" sz="4000" b="1" dirty="0"/>
              <a:t>PRIMARY SALES PERFORMANCE</a:t>
            </a:r>
            <a:endParaRPr lang="en-US" sz="4000" b="1" spc="600" dirty="0">
              <a:ln w="28575">
                <a:noFill/>
                <a:prstDash val="solid"/>
              </a:ln>
            </a:endParaRPr>
          </a:p>
        </p:txBody>
      </p:sp>
      <p:sp>
        <p:nvSpPr>
          <p:cNvPr id="14" name="Content Placeholder 3">
            <a:extLst>
              <a:ext uri="{FF2B5EF4-FFF2-40B4-BE49-F238E27FC236}">
                <a16:creationId xmlns:a16="http://schemas.microsoft.com/office/drawing/2014/main" id="{26A7E8F0-D533-C7AD-A020-8026FFEADAFE}"/>
              </a:ext>
            </a:extLst>
          </p:cNvPr>
          <p:cNvSpPr>
            <a:spLocks noGrp="1"/>
          </p:cNvSpPr>
          <p:nvPr>
            <p:ph sz="half" idx="1"/>
          </p:nvPr>
        </p:nvSpPr>
        <p:spPr>
          <a:xfrm>
            <a:off x="1031025" y="975846"/>
            <a:ext cx="5483239" cy="4773772"/>
          </a:xfrm>
        </p:spPr>
        <p:txBody>
          <a:bodyPr>
            <a:noAutofit/>
          </a:bodyPr>
          <a:lstStyle/>
          <a:p>
            <a:pPr marL="0" indent="0" algn="just">
              <a:lnSpc>
                <a:spcPct val="150000"/>
              </a:lnSpc>
              <a:buNone/>
            </a:pPr>
            <a:r>
              <a:rPr lang="en-US" sz="1600" b="1" dirty="0"/>
              <a:t>Sales Performance</a:t>
            </a:r>
          </a:p>
          <a:p>
            <a:pPr marL="171450" indent="-171450" algn="just">
              <a:lnSpc>
                <a:spcPct val="100000"/>
              </a:lnSpc>
            </a:pPr>
            <a:r>
              <a:rPr lang="en-US" sz="1400" dirty="0"/>
              <a:t>Total Sales: $1,911,800 (YTD basis)</a:t>
            </a:r>
          </a:p>
          <a:p>
            <a:pPr marL="171450" indent="-171450" algn="just">
              <a:lnSpc>
                <a:spcPct val="100000"/>
              </a:lnSpc>
            </a:pPr>
            <a:r>
              <a:rPr lang="en-US" sz="1400" dirty="0"/>
              <a:t>Annual Trend: 1.09% decrease</a:t>
            </a:r>
          </a:p>
          <a:p>
            <a:pPr marL="0" indent="0" algn="just">
              <a:lnSpc>
                <a:spcPct val="150000"/>
              </a:lnSpc>
              <a:buNone/>
            </a:pPr>
            <a:r>
              <a:rPr lang="en-US" sz="1600" b="1" dirty="0"/>
              <a:t>Key Insights</a:t>
            </a:r>
          </a:p>
          <a:p>
            <a:pPr marL="171450" indent="-171450" algn="just">
              <a:lnSpc>
                <a:spcPct val="100000"/>
              </a:lnSpc>
            </a:pPr>
            <a:r>
              <a:rPr lang="en-US" sz="1400" dirty="0"/>
              <a:t>Seasonal Peaks: July &amp; October show strongest performance</a:t>
            </a:r>
          </a:p>
          <a:p>
            <a:pPr marL="171450" indent="-171450" algn="just">
              <a:lnSpc>
                <a:spcPct val="100000"/>
              </a:lnSpc>
            </a:pPr>
            <a:r>
              <a:rPr lang="en-US" sz="1400" dirty="0"/>
              <a:t>Annual Low: June consistently underperforms</a:t>
            </a:r>
          </a:p>
          <a:p>
            <a:pPr marL="171450" indent="-171450" algn="just">
              <a:lnSpc>
                <a:spcPct val="100000"/>
              </a:lnSpc>
            </a:pPr>
            <a:r>
              <a:rPr lang="en-US" sz="1400" dirty="0"/>
              <a:t>Christmas items dominate Primary sales, creating seasonal dependency</a:t>
            </a:r>
          </a:p>
          <a:p>
            <a:pPr marL="0" indent="0" algn="just">
              <a:lnSpc>
                <a:spcPct val="150000"/>
              </a:lnSpc>
              <a:buNone/>
            </a:pPr>
            <a:r>
              <a:rPr lang="en-US" sz="1600" b="1" dirty="0"/>
              <a:t>Performance Optimization Opportunities</a:t>
            </a:r>
          </a:p>
          <a:p>
            <a:pPr marL="285750" indent="-285750" algn="just">
              <a:lnSpc>
                <a:spcPct val="100000"/>
              </a:lnSpc>
            </a:pPr>
            <a:r>
              <a:rPr lang="en-US" sz="1400" dirty="0"/>
              <a:t>Address June decline – investigate causes of annual low performance</a:t>
            </a:r>
          </a:p>
          <a:p>
            <a:pPr marL="285750" indent="-285750" algn="just">
              <a:lnSpc>
                <a:spcPct val="100000"/>
              </a:lnSpc>
            </a:pPr>
            <a:r>
              <a:rPr lang="en-US" sz="1400" dirty="0"/>
              <a:t>Leverage July &amp; October peaks – replicate success factors</a:t>
            </a:r>
          </a:p>
          <a:p>
            <a:pPr marL="285750" indent="-285750" algn="just">
              <a:lnSpc>
                <a:spcPct val="100000"/>
              </a:lnSpc>
            </a:pPr>
            <a:r>
              <a:rPr lang="en-US" sz="1400" dirty="0"/>
              <a:t>Diversify product mix – reduce dependency on Christmas items</a:t>
            </a:r>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8</a:t>
            </a:fld>
            <a:endParaRPr lang="en-US"/>
          </a:p>
        </p:txBody>
      </p:sp>
      <p:pic>
        <p:nvPicPr>
          <p:cNvPr id="17" name="Picture 16">
            <a:extLst>
              <a:ext uri="{FF2B5EF4-FFF2-40B4-BE49-F238E27FC236}">
                <a16:creationId xmlns:a16="http://schemas.microsoft.com/office/drawing/2014/main" id="{DD318996-9D76-17A6-9C1C-5374E4582607}"/>
              </a:ext>
            </a:extLst>
          </p:cNvPr>
          <p:cNvPicPr>
            <a:picLocks noChangeAspect="1"/>
          </p:cNvPicPr>
          <p:nvPr/>
        </p:nvPicPr>
        <p:blipFill>
          <a:blip r:embed="rId3"/>
          <a:stretch>
            <a:fillRect/>
          </a:stretch>
        </p:blipFill>
        <p:spPr>
          <a:xfrm>
            <a:off x="6780113" y="2853148"/>
            <a:ext cx="5411887" cy="2218087"/>
          </a:xfrm>
          <a:prstGeom prst="rect">
            <a:avLst/>
          </a:prstGeom>
          <a:noFill/>
        </p:spPr>
      </p:pic>
      <p:sp>
        <p:nvSpPr>
          <p:cNvPr id="3" name="Right Triangle 2">
            <a:extLst>
              <a:ext uri="{FF2B5EF4-FFF2-40B4-BE49-F238E27FC236}">
                <a16:creationId xmlns:a16="http://schemas.microsoft.com/office/drawing/2014/main" id="{F30F648A-15C9-E5A5-D8AA-0C9DCE0CECEF}"/>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Right Triangle 3">
            <a:extLst>
              <a:ext uri="{FF2B5EF4-FFF2-40B4-BE49-F238E27FC236}">
                <a16:creationId xmlns:a16="http://schemas.microsoft.com/office/drawing/2014/main" id="{01E78755-B9E3-7B95-0628-0D314C91B8AE}"/>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FBB386F1-AD6C-4939-737D-B765A488FE1E}"/>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7" name="Diagonal Stripe 6">
            <a:extLst>
              <a:ext uri="{FF2B5EF4-FFF2-40B4-BE49-F238E27FC236}">
                <a16:creationId xmlns:a16="http://schemas.microsoft.com/office/drawing/2014/main" id="{7EA4F7DB-AD15-119E-E664-997DE3DC60B9}"/>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1372651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7069A35-1FBE-1160-0C8C-95762A657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0EAFA-4D6F-B494-9CA8-5DBD00B9967D}"/>
              </a:ext>
            </a:extLst>
          </p:cNvPr>
          <p:cNvSpPr>
            <a:spLocks noGrp="1"/>
          </p:cNvSpPr>
          <p:nvPr>
            <p:ph type="title"/>
          </p:nvPr>
        </p:nvSpPr>
        <p:spPr>
          <a:xfrm>
            <a:off x="839562" y="368392"/>
            <a:ext cx="9517626" cy="726256"/>
          </a:xfrm>
        </p:spPr>
        <p:txBody>
          <a:bodyPr anchor="ctr">
            <a:normAutofit/>
          </a:bodyPr>
          <a:lstStyle/>
          <a:p>
            <a:pPr algn="ctr"/>
            <a:r>
              <a:rPr lang="en-US" sz="4000" b="1" dirty="0"/>
              <a:t>SECONDARY SALES PERFORMANCE</a:t>
            </a:r>
            <a:endParaRPr lang="en-US" sz="4000" b="1" spc="600" dirty="0">
              <a:ln w="28575">
                <a:noFill/>
                <a:prstDash val="solid"/>
              </a:ln>
            </a:endParaRPr>
          </a:p>
        </p:txBody>
      </p:sp>
      <p:sp>
        <p:nvSpPr>
          <p:cNvPr id="14" name="Content Placeholder 3">
            <a:extLst>
              <a:ext uri="{FF2B5EF4-FFF2-40B4-BE49-F238E27FC236}">
                <a16:creationId xmlns:a16="http://schemas.microsoft.com/office/drawing/2014/main" id="{D76D6157-A7AE-AF06-8020-CAADC6FEFA95}"/>
              </a:ext>
            </a:extLst>
          </p:cNvPr>
          <p:cNvSpPr>
            <a:spLocks noGrp="1"/>
          </p:cNvSpPr>
          <p:nvPr>
            <p:ph sz="half" idx="1"/>
          </p:nvPr>
        </p:nvSpPr>
        <p:spPr>
          <a:xfrm>
            <a:off x="1258528" y="1094648"/>
            <a:ext cx="5663381" cy="4706384"/>
          </a:xfrm>
        </p:spPr>
        <p:txBody>
          <a:bodyPr>
            <a:normAutofit lnSpcReduction="10000"/>
          </a:bodyPr>
          <a:lstStyle/>
          <a:p>
            <a:pPr marL="0" indent="0" algn="just">
              <a:lnSpc>
                <a:spcPct val="150000"/>
              </a:lnSpc>
              <a:buNone/>
            </a:pPr>
            <a:r>
              <a:rPr lang="en-US" sz="1600" b="1" dirty="0"/>
              <a:t>Sales Performance </a:t>
            </a:r>
          </a:p>
          <a:p>
            <a:pPr marL="171450" indent="-171450" algn="just">
              <a:lnSpc>
                <a:spcPct val="100000"/>
              </a:lnSpc>
            </a:pPr>
            <a:r>
              <a:rPr lang="en-US" sz="1400" dirty="0"/>
              <a:t>Total Sales: $13,959,160 (YTD basis)</a:t>
            </a:r>
          </a:p>
          <a:p>
            <a:pPr marL="171450" indent="-171450" algn="just">
              <a:lnSpc>
                <a:spcPct val="100000"/>
              </a:lnSpc>
            </a:pPr>
            <a:r>
              <a:rPr lang="en-US" sz="1400" dirty="0"/>
              <a:t>Growth: +$1,192,742 increase (2015-2018 comparison)</a:t>
            </a:r>
          </a:p>
          <a:p>
            <a:pPr marL="0" indent="0" algn="just">
              <a:lnSpc>
                <a:spcPct val="150000"/>
              </a:lnSpc>
              <a:buNone/>
            </a:pPr>
            <a:r>
              <a:rPr lang="en-US" sz="1700" b="1" dirty="0"/>
              <a:t>Key Insights</a:t>
            </a:r>
          </a:p>
          <a:p>
            <a:pPr marL="171450" indent="-171450" algn="just">
              <a:lnSpc>
                <a:spcPct val="100000"/>
              </a:lnSpc>
            </a:pPr>
            <a:r>
              <a:rPr lang="en-US" sz="1400" dirty="0"/>
              <a:t>Consistent growth: monthly progression throughout the year</a:t>
            </a:r>
          </a:p>
          <a:p>
            <a:pPr marL="171450" indent="-171450" algn="just">
              <a:lnSpc>
                <a:spcPct val="100000"/>
              </a:lnSpc>
            </a:pPr>
            <a:r>
              <a:rPr lang="en-US" sz="1400" dirty="0"/>
              <a:t>December dominance: 12.29% of annual sales in single month</a:t>
            </a:r>
          </a:p>
          <a:p>
            <a:pPr marL="171450" indent="-171450" algn="just">
              <a:lnSpc>
                <a:spcPct val="100000"/>
              </a:lnSpc>
            </a:pPr>
            <a:r>
              <a:rPr lang="en-US" sz="1400" dirty="0"/>
              <a:t>Electronics Focus: Bluetooth speakers, 4K cables, smartphone cases</a:t>
            </a:r>
          </a:p>
          <a:p>
            <a:pPr marL="171450" indent="-171450" algn="just">
              <a:lnSpc>
                <a:spcPct val="100000"/>
              </a:lnSpc>
            </a:pPr>
            <a:r>
              <a:rPr lang="en-US" sz="1400" dirty="0"/>
              <a:t>Global reach: Larger customer base with year-round demand</a:t>
            </a:r>
          </a:p>
          <a:p>
            <a:pPr marL="0" indent="0" algn="just">
              <a:lnSpc>
                <a:spcPct val="150000"/>
              </a:lnSpc>
              <a:buNone/>
            </a:pPr>
            <a:r>
              <a:rPr lang="en-US" sz="1700" b="1" dirty="0"/>
              <a:t>Success Factors</a:t>
            </a:r>
          </a:p>
          <a:p>
            <a:pPr marL="285750" indent="-285750" algn="just">
              <a:lnSpc>
                <a:spcPct val="100000"/>
              </a:lnSpc>
            </a:pPr>
            <a:r>
              <a:rPr lang="en-US" sz="1400" dirty="0"/>
              <a:t>Product diversification across electronics</a:t>
            </a:r>
          </a:p>
          <a:p>
            <a:pPr marL="285750" indent="-285750" algn="just">
              <a:lnSpc>
                <a:spcPct val="100000"/>
              </a:lnSpc>
            </a:pPr>
            <a:r>
              <a:rPr lang="en-US" sz="1400" dirty="0"/>
              <a:t>Global market access</a:t>
            </a:r>
          </a:p>
          <a:p>
            <a:pPr marL="285750" indent="-285750" algn="just">
              <a:lnSpc>
                <a:spcPct val="100000"/>
              </a:lnSpc>
            </a:pPr>
            <a:r>
              <a:rPr lang="en-US" sz="1400" dirty="0"/>
              <a:t>Lower seasonal dependency</a:t>
            </a:r>
          </a:p>
          <a:p>
            <a:pPr marL="285750" indent="-285750" algn="just">
              <a:lnSpc>
                <a:spcPct val="100000"/>
              </a:lnSpc>
            </a:pPr>
            <a:r>
              <a:rPr lang="en-US" sz="1400" dirty="0"/>
              <a:t>Scalable electronics-focused model</a:t>
            </a:r>
          </a:p>
        </p:txBody>
      </p:sp>
      <p:sp>
        <p:nvSpPr>
          <p:cNvPr id="5" name="Slide Number Placeholder 4">
            <a:extLst>
              <a:ext uri="{FF2B5EF4-FFF2-40B4-BE49-F238E27FC236}">
                <a16:creationId xmlns:a16="http://schemas.microsoft.com/office/drawing/2014/main" id="{3AB04772-67BE-BEDB-DAEA-B13ED674A518}"/>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9</a:t>
            </a:fld>
            <a:endParaRPr lang="en-US"/>
          </a:p>
        </p:txBody>
      </p:sp>
      <p:pic>
        <p:nvPicPr>
          <p:cNvPr id="10" name="Picture 9">
            <a:extLst>
              <a:ext uri="{FF2B5EF4-FFF2-40B4-BE49-F238E27FC236}">
                <a16:creationId xmlns:a16="http://schemas.microsoft.com/office/drawing/2014/main" id="{7325519A-1F94-8D20-568A-B00973D1E3A4}"/>
              </a:ext>
            </a:extLst>
          </p:cNvPr>
          <p:cNvPicPr>
            <a:picLocks noChangeAspect="1"/>
          </p:cNvPicPr>
          <p:nvPr/>
        </p:nvPicPr>
        <p:blipFill>
          <a:blip r:embed="rId3"/>
          <a:stretch>
            <a:fillRect/>
          </a:stretch>
        </p:blipFill>
        <p:spPr>
          <a:xfrm>
            <a:off x="7000568" y="2434883"/>
            <a:ext cx="5107088" cy="2282371"/>
          </a:xfrm>
          <a:prstGeom prst="rect">
            <a:avLst/>
          </a:prstGeom>
          <a:noFill/>
        </p:spPr>
      </p:pic>
      <p:sp>
        <p:nvSpPr>
          <p:cNvPr id="3" name="Right Triangle 2">
            <a:extLst>
              <a:ext uri="{FF2B5EF4-FFF2-40B4-BE49-F238E27FC236}">
                <a16:creationId xmlns:a16="http://schemas.microsoft.com/office/drawing/2014/main" id="{81A73919-67B3-CF84-BE74-980DBFF3737E}"/>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Right Triangle 3">
            <a:extLst>
              <a:ext uri="{FF2B5EF4-FFF2-40B4-BE49-F238E27FC236}">
                <a16:creationId xmlns:a16="http://schemas.microsoft.com/office/drawing/2014/main" id="{C1275DCD-91D5-55BC-9572-611C33090624}"/>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3910B1E9-2E59-8C2F-E9EF-1B02E56619D2}"/>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7" name="Diagonal Stripe 6">
            <a:extLst>
              <a:ext uri="{FF2B5EF4-FFF2-40B4-BE49-F238E27FC236}">
                <a16:creationId xmlns:a16="http://schemas.microsoft.com/office/drawing/2014/main" id="{ED5FDAAB-4ABA-BA3B-2E57-ECFBD943FC77}"/>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1889300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0BF9C3-4A71-41F5-A271-8FD7B4AE1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D3961-A85B-3442-22F1-EADCB93B4E7D}"/>
              </a:ext>
            </a:extLst>
          </p:cNvPr>
          <p:cNvSpPr>
            <a:spLocks noGrp="1"/>
          </p:cNvSpPr>
          <p:nvPr>
            <p:ph type="title"/>
          </p:nvPr>
        </p:nvSpPr>
        <p:spPr>
          <a:xfrm>
            <a:off x="798377" y="345498"/>
            <a:ext cx="9606116" cy="772044"/>
          </a:xfrm>
        </p:spPr>
        <p:txBody>
          <a:bodyPr anchor="ctr">
            <a:normAutofit/>
          </a:bodyPr>
          <a:lstStyle/>
          <a:p>
            <a:pPr algn="ctr"/>
            <a:r>
              <a:rPr lang="en-US" sz="4000" b="1" dirty="0">
                <a:ln w="28575">
                  <a:noFill/>
                  <a:prstDash val="solid"/>
                </a:ln>
              </a:rPr>
              <a:t>PRODUCT PERFORMANCE ANALYSIS</a:t>
            </a:r>
            <a:endParaRPr lang="en-US" sz="4000" b="1" spc="600" dirty="0">
              <a:ln w="28575">
                <a:noFill/>
                <a:prstDash val="solid"/>
              </a:ln>
            </a:endParaRPr>
          </a:p>
        </p:txBody>
      </p:sp>
      <p:sp>
        <p:nvSpPr>
          <p:cNvPr id="14" name="Content Placeholder 3">
            <a:extLst>
              <a:ext uri="{FF2B5EF4-FFF2-40B4-BE49-F238E27FC236}">
                <a16:creationId xmlns:a16="http://schemas.microsoft.com/office/drawing/2014/main" id="{802707C4-D4DC-4356-CBCC-4F29FDF0A729}"/>
              </a:ext>
            </a:extLst>
          </p:cNvPr>
          <p:cNvSpPr>
            <a:spLocks noGrp="1"/>
          </p:cNvSpPr>
          <p:nvPr>
            <p:ph sz="half" idx="1"/>
          </p:nvPr>
        </p:nvSpPr>
        <p:spPr>
          <a:xfrm>
            <a:off x="1170038" y="1255353"/>
            <a:ext cx="5671671" cy="4535848"/>
          </a:xfrm>
        </p:spPr>
        <p:txBody>
          <a:bodyPr>
            <a:normAutofit/>
          </a:bodyPr>
          <a:lstStyle/>
          <a:p>
            <a:pPr marL="0" indent="0" algn="just">
              <a:lnSpc>
                <a:spcPct val="150000"/>
              </a:lnSpc>
              <a:buNone/>
            </a:pPr>
            <a:r>
              <a:rPr lang="en-US" sz="1600" b="1" dirty="0"/>
              <a:t>Primary Product Strategy Analysis</a:t>
            </a:r>
          </a:p>
          <a:p>
            <a:pPr marL="171450" indent="-171450" algn="just">
              <a:lnSpc>
                <a:spcPct val="100000"/>
              </a:lnSpc>
            </a:pPr>
            <a:r>
              <a:rPr lang="en-US" sz="1400" dirty="0"/>
              <a:t>Focus: Christmas category (Candles &amp; Glassware)</a:t>
            </a:r>
          </a:p>
          <a:p>
            <a:pPr marL="171450" indent="-171450" algn="just">
              <a:lnSpc>
                <a:spcPct val="100000"/>
              </a:lnSpc>
            </a:pPr>
            <a:r>
              <a:rPr lang="en-US" sz="1400" dirty="0"/>
              <a:t>Issue: Highly seasonal</a:t>
            </a:r>
          </a:p>
          <a:p>
            <a:pPr marL="171450" indent="-171450" algn="just">
              <a:lnSpc>
                <a:spcPct val="100000"/>
              </a:lnSpc>
            </a:pPr>
            <a:r>
              <a:rPr lang="en-US" sz="1400" dirty="0"/>
              <a:t>Challenge: Limited portfolio </a:t>
            </a:r>
          </a:p>
          <a:p>
            <a:pPr marL="0" indent="0" algn="just">
              <a:lnSpc>
                <a:spcPct val="150000"/>
              </a:lnSpc>
              <a:buNone/>
            </a:pPr>
            <a:r>
              <a:rPr lang="en-US" sz="1600" b="1" dirty="0"/>
              <a:t>Secondary Product Strategy Analysis</a:t>
            </a:r>
          </a:p>
          <a:p>
            <a:pPr marL="171450" indent="-171450" algn="just">
              <a:lnSpc>
                <a:spcPct val="100000"/>
              </a:lnSpc>
            </a:pPr>
            <a:r>
              <a:rPr lang="en-US" sz="1400" dirty="0"/>
              <a:t>Focus: Electronics, led by the Bluetooth Speaker</a:t>
            </a:r>
          </a:p>
          <a:p>
            <a:pPr marL="171450" indent="-171450" algn="just">
              <a:lnSpc>
                <a:spcPct val="100000"/>
              </a:lnSpc>
            </a:pPr>
            <a:r>
              <a:rPr lang="en-US" sz="1400" dirty="0"/>
              <a:t>Strength: Year-round, consistent demand with a diversified portfolio</a:t>
            </a:r>
          </a:p>
          <a:p>
            <a:pPr marL="171450" indent="-171450" algn="just">
              <a:lnSpc>
                <a:spcPct val="100000"/>
              </a:lnSpc>
            </a:pPr>
            <a:r>
              <a:rPr lang="en-US" sz="1400" dirty="0"/>
              <a:t>Opportunity: Aligns with market trends</a:t>
            </a:r>
          </a:p>
          <a:p>
            <a:pPr marL="0" indent="0" algn="just">
              <a:lnSpc>
                <a:spcPct val="150000"/>
              </a:lnSpc>
              <a:buNone/>
            </a:pPr>
            <a:r>
              <a:rPr lang="en-US" sz="1600" b="1" dirty="0"/>
              <a:t>Recommendation</a:t>
            </a:r>
          </a:p>
          <a:p>
            <a:pPr marL="285750" indent="-285750" algn="just">
              <a:lnSpc>
                <a:spcPct val="100000"/>
              </a:lnSpc>
            </a:pPr>
            <a:r>
              <a:rPr lang="en-US" sz="1400" dirty="0"/>
              <a:t>Primary Expansion: Add non-seasonal products to decrease dependency</a:t>
            </a:r>
          </a:p>
          <a:p>
            <a:pPr marL="285750" indent="-285750" algn="just">
              <a:lnSpc>
                <a:spcPct val="100000"/>
              </a:lnSpc>
            </a:pPr>
            <a:r>
              <a:rPr lang="en-US" sz="1400" dirty="0"/>
              <a:t>Portfolio Optimization: Balance seasonal and year-round products</a:t>
            </a:r>
          </a:p>
        </p:txBody>
      </p:sp>
      <p:sp>
        <p:nvSpPr>
          <p:cNvPr id="5" name="Slide Number Placeholder 4">
            <a:extLst>
              <a:ext uri="{FF2B5EF4-FFF2-40B4-BE49-F238E27FC236}">
                <a16:creationId xmlns:a16="http://schemas.microsoft.com/office/drawing/2014/main" id="{7D6259CD-4754-D636-AB3F-D61FC74DDAB2}"/>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10</a:t>
            </a:fld>
            <a:endParaRPr lang="en-US"/>
          </a:p>
        </p:txBody>
      </p:sp>
      <p:pic>
        <p:nvPicPr>
          <p:cNvPr id="9" name="Picture 8">
            <a:extLst>
              <a:ext uri="{FF2B5EF4-FFF2-40B4-BE49-F238E27FC236}">
                <a16:creationId xmlns:a16="http://schemas.microsoft.com/office/drawing/2014/main" id="{5B8A3801-BFB7-0616-4FC7-84CA75516285}"/>
              </a:ext>
            </a:extLst>
          </p:cNvPr>
          <p:cNvPicPr>
            <a:picLocks noChangeAspect="1"/>
          </p:cNvPicPr>
          <p:nvPr/>
        </p:nvPicPr>
        <p:blipFill>
          <a:blip r:embed="rId3"/>
          <a:stretch>
            <a:fillRect/>
          </a:stretch>
        </p:blipFill>
        <p:spPr>
          <a:xfrm>
            <a:off x="6926055" y="2260979"/>
            <a:ext cx="5181600" cy="2875788"/>
          </a:xfrm>
          <a:prstGeom prst="rect">
            <a:avLst/>
          </a:prstGeom>
          <a:noFill/>
        </p:spPr>
      </p:pic>
      <p:sp>
        <p:nvSpPr>
          <p:cNvPr id="3" name="Right Triangle 2">
            <a:extLst>
              <a:ext uri="{FF2B5EF4-FFF2-40B4-BE49-F238E27FC236}">
                <a16:creationId xmlns:a16="http://schemas.microsoft.com/office/drawing/2014/main" id="{61A3B575-B83E-0682-5A09-697E6A2F70B9}"/>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Right Triangle 3">
            <a:extLst>
              <a:ext uri="{FF2B5EF4-FFF2-40B4-BE49-F238E27FC236}">
                <a16:creationId xmlns:a16="http://schemas.microsoft.com/office/drawing/2014/main" id="{5D21D689-636F-EC07-308A-57DED04EEE70}"/>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37B1FA24-88E7-5F61-8432-C6DCB6284C55}"/>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7" name="Diagonal Stripe 6">
            <a:extLst>
              <a:ext uri="{FF2B5EF4-FFF2-40B4-BE49-F238E27FC236}">
                <a16:creationId xmlns:a16="http://schemas.microsoft.com/office/drawing/2014/main" id="{78613D82-96A8-EDE4-8A12-904E237AD724}"/>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850904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BF174CA-4E72-ED9F-28D2-F77A14F4B4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09B06-F1A9-CE22-49AB-7E5A561F9537}"/>
              </a:ext>
            </a:extLst>
          </p:cNvPr>
          <p:cNvSpPr>
            <a:spLocks noGrp="1"/>
          </p:cNvSpPr>
          <p:nvPr>
            <p:ph type="title"/>
          </p:nvPr>
        </p:nvSpPr>
        <p:spPr>
          <a:xfrm>
            <a:off x="698790" y="437105"/>
            <a:ext cx="9283410" cy="696759"/>
          </a:xfrm>
        </p:spPr>
        <p:txBody>
          <a:bodyPr anchor="ctr">
            <a:normAutofit/>
          </a:bodyPr>
          <a:lstStyle/>
          <a:p>
            <a:pPr algn="ctr"/>
            <a:r>
              <a:rPr lang="en-US" sz="4000" b="1" dirty="0">
                <a:ln w="28575">
                  <a:noFill/>
                  <a:prstDash val="solid"/>
                </a:ln>
              </a:rPr>
              <a:t>REGIONAL PERFORMANCE ANALYSIS</a:t>
            </a:r>
            <a:endParaRPr lang="en-US" sz="4000" b="1" spc="600" dirty="0">
              <a:ln w="28575">
                <a:noFill/>
                <a:prstDash val="solid"/>
              </a:ln>
            </a:endParaRPr>
          </a:p>
        </p:txBody>
      </p:sp>
      <p:sp>
        <p:nvSpPr>
          <p:cNvPr id="14" name="Content Placeholder 3">
            <a:extLst>
              <a:ext uri="{FF2B5EF4-FFF2-40B4-BE49-F238E27FC236}">
                <a16:creationId xmlns:a16="http://schemas.microsoft.com/office/drawing/2014/main" id="{76A6FDC7-0304-60AD-4CA6-9CF36ADF1D7D}"/>
              </a:ext>
            </a:extLst>
          </p:cNvPr>
          <p:cNvSpPr>
            <a:spLocks noGrp="1"/>
          </p:cNvSpPr>
          <p:nvPr>
            <p:ph sz="half" idx="1"/>
          </p:nvPr>
        </p:nvSpPr>
        <p:spPr>
          <a:xfrm>
            <a:off x="1185076" y="1313319"/>
            <a:ext cx="5455075" cy="4698418"/>
          </a:xfrm>
        </p:spPr>
        <p:txBody>
          <a:bodyPr anchor="ctr">
            <a:normAutofit/>
          </a:bodyPr>
          <a:lstStyle/>
          <a:p>
            <a:pPr marL="0" indent="0" algn="just">
              <a:lnSpc>
                <a:spcPct val="150000"/>
              </a:lnSpc>
              <a:buNone/>
            </a:pPr>
            <a:r>
              <a:rPr lang="en-US" sz="1600" b="1" dirty="0"/>
              <a:t>Primary Dataset Regional Performance</a:t>
            </a:r>
          </a:p>
          <a:p>
            <a:pPr marL="171450" indent="-171450" algn="just">
              <a:lnSpc>
                <a:spcPct val="100000"/>
              </a:lnSpc>
            </a:pPr>
            <a:r>
              <a:rPr lang="en-US" sz="1400" dirty="0"/>
              <a:t>Primary market – UK 92.93% centered in Europe with the UK as the main hub</a:t>
            </a:r>
          </a:p>
          <a:p>
            <a:pPr marL="0" indent="0" algn="just">
              <a:lnSpc>
                <a:spcPct val="150000"/>
              </a:lnSpc>
              <a:buNone/>
            </a:pPr>
            <a:r>
              <a:rPr lang="en-US" sz="1600" b="1" dirty="0"/>
              <a:t>Secondary Dataset Regional Performance</a:t>
            </a:r>
          </a:p>
          <a:p>
            <a:pPr marL="171450" indent="-171450" algn="just">
              <a:lnSpc>
                <a:spcPct val="100000"/>
              </a:lnSpc>
            </a:pPr>
            <a:r>
              <a:rPr lang="en-US" sz="1400" dirty="0"/>
              <a:t>Secondary market – USA 29.62% dominant market with global presence mainly in US &amp; China</a:t>
            </a:r>
          </a:p>
          <a:p>
            <a:pPr marL="0" indent="0" algn="just">
              <a:lnSpc>
                <a:spcPct val="150000"/>
              </a:lnSpc>
              <a:buNone/>
            </a:pPr>
            <a:r>
              <a:rPr lang="en-US" sz="1600" b="1" dirty="0"/>
              <a:t>Recommendations</a:t>
            </a:r>
            <a:r>
              <a:rPr lang="en-US" sz="1400" b="1" dirty="0"/>
              <a:t>:</a:t>
            </a:r>
          </a:p>
          <a:p>
            <a:pPr marL="171450" indent="-171450" algn="just">
              <a:lnSpc>
                <a:spcPct val="100000"/>
              </a:lnSpc>
            </a:pPr>
            <a:r>
              <a:rPr lang="en-US" sz="1400" dirty="0"/>
              <a:t>Strengthen the primary market by expanding further in Europe (UK, Germany, France)</a:t>
            </a:r>
          </a:p>
          <a:p>
            <a:pPr marL="171450" indent="-171450" algn="just">
              <a:lnSpc>
                <a:spcPct val="100000"/>
              </a:lnSpc>
            </a:pPr>
            <a:r>
              <a:rPr lang="en-US" sz="1400" dirty="0"/>
              <a:t>Grow the secondary market by building on its strong US base to increase global reach</a:t>
            </a:r>
          </a:p>
          <a:p>
            <a:pPr marL="171450" indent="-171450" algn="just">
              <a:lnSpc>
                <a:spcPct val="100000"/>
              </a:lnSpc>
            </a:pPr>
            <a:r>
              <a:rPr lang="en-US" sz="1400" dirty="0"/>
              <a:t>Cross-learn: Apply the secondary market’s global approach to the primary and use the primary’s European expertise to support secondary growth in Europe.</a:t>
            </a:r>
          </a:p>
          <a:p>
            <a:pPr marL="0" indent="0" algn="just">
              <a:lnSpc>
                <a:spcPct val="100000"/>
              </a:lnSpc>
              <a:buNone/>
            </a:pPr>
            <a:endParaRPr lang="en-US" sz="1400" dirty="0"/>
          </a:p>
        </p:txBody>
      </p:sp>
      <p:sp>
        <p:nvSpPr>
          <p:cNvPr id="5" name="Slide Number Placeholder 4">
            <a:extLst>
              <a:ext uri="{FF2B5EF4-FFF2-40B4-BE49-F238E27FC236}">
                <a16:creationId xmlns:a16="http://schemas.microsoft.com/office/drawing/2014/main" id="{00603EB2-E97F-220E-4F89-FC2DD0AF37EA}"/>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11</a:t>
            </a:fld>
            <a:endParaRPr lang="en-US"/>
          </a:p>
        </p:txBody>
      </p:sp>
      <p:pic>
        <p:nvPicPr>
          <p:cNvPr id="8" name="Picture 7">
            <a:extLst>
              <a:ext uri="{FF2B5EF4-FFF2-40B4-BE49-F238E27FC236}">
                <a16:creationId xmlns:a16="http://schemas.microsoft.com/office/drawing/2014/main" id="{225E389F-1456-6286-8BB7-C04AE5C117ED}"/>
              </a:ext>
            </a:extLst>
          </p:cNvPr>
          <p:cNvPicPr>
            <a:picLocks noChangeAspect="1"/>
          </p:cNvPicPr>
          <p:nvPr/>
        </p:nvPicPr>
        <p:blipFill>
          <a:blip r:embed="rId3"/>
          <a:stretch>
            <a:fillRect/>
          </a:stretch>
        </p:blipFill>
        <p:spPr>
          <a:xfrm>
            <a:off x="6950637" y="1824157"/>
            <a:ext cx="4902915" cy="4351338"/>
          </a:xfrm>
          <a:prstGeom prst="rect">
            <a:avLst/>
          </a:prstGeom>
          <a:noFill/>
        </p:spPr>
      </p:pic>
      <p:sp>
        <p:nvSpPr>
          <p:cNvPr id="3" name="Right Triangle 2">
            <a:extLst>
              <a:ext uri="{FF2B5EF4-FFF2-40B4-BE49-F238E27FC236}">
                <a16:creationId xmlns:a16="http://schemas.microsoft.com/office/drawing/2014/main" id="{B4580552-DE1D-B0B9-4D64-877B70378F16}"/>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Right Triangle 3">
            <a:extLst>
              <a:ext uri="{FF2B5EF4-FFF2-40B4-BE49-F238E27FC236}">
                <a16:creationId xmlns:a16="http://schemas.microsoft.com/office/drawing/2014/main" id="{B472F934-0492-5C1A-5B54-FA1B0B3BCA32}"/>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F6CB6C60-9216-7323-ACC1-6AD60E1891A1}"/>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7" name="Diagonal Stripe 6">
            <a:extLst>
              <a:ext uri="{FF2B5EF4-FFF2-40B4-BE49-F238E27FC236}">
                <a16:creationId xmlns:a16="http://schemas.microsoft.com/office/drawing/2014/main" id="{73CB7041-495A-65F4-528D-4A93DC1EE9D8}"/>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2316286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85BC21-7B6F-EEE1-A513-FE9C962F6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860E3F-3D1D-CE0F-7516-4BDFF5BE92B7}"/>
              </a:ext>
            </a:extLst>
          </p:cNvPr>
          <p:cNvSpPr>
            <a:spLocks noGrp="1"/>
          </p:cNvSpPr>
          <p:nvPr>
            <p:ph type="title"/>
          </p:nvPr>
        </p:nvSpPr>
        <p:spPr>
          <a:xfrm>
            <a:off x="1508381" y="458260"/>
            <a:ext cx="8673787" cy="670024"/>
          </a:xfrm>
        </p:spPr>
        <p:txBody>
          <a:bodyPr anchor="b">
            <a:noAutofit/>
          </a:bodyPr>
          <a:lstStyle/>
          <a:p>
            <a:pPr algn="ctr"/>
            <a:r>
              <a:rPr lang="en-US" sz="4000" b="1" dirty="0">
                <a:ln w="28575">
                  <a:noFill/>
                  <a:prstDash val="solid"/>
                </a:ln>
              </a:rPr>
              <a:t>TIME INTELLIGENCE ANALYSIS</a:t>
            </a:r>
            <a:endParaRPr lang="en-US" sz="4000" b="1" spc="600" dirty="0">
              <a:ln w="28575">
                <a:noFill/>
                <a:prstDash val="solid"/>
              </a:ln>
            </a:endParaRPr>
          </a:p>
        </p:txBody>
      </p:sp>
      <p:sp>
        <p:nvSpPr>
          <p:cNvPr id="14" name="Content Placeholder 3">
            <a:extLst>
              <a:ext uri="{FF2B5EF4-FFF2-40B4-BE49-F238E27FC236}">
                <a16:creationId xmlns:a16="http://schemas.microsoft.com/office/drawing/2014/main" id="{A16DD9AA-0E8F-F653-B3A3-663FBBA067A3}"/>
              </a:ext>
            </a:extLst>
          </p:cNvPr>
          <p:cNvSpPr>
            <a:spLocks noGrp="1"/>
          </p:cNvSpPr>
          <p:nvPr>
            <p:ph type="body" sz="half" idx="2"/>
          </p:nvPr>
        </p:nvSpPr>
        <p:spPr>
          <a:xfrm>
            <a:off x="289613" y="1463040"/>
            <a:ext cx="5207051" cy="3337560"/>
          </a:xfrm>
        </p:spPr>
        <p:txBody>
          <a:bodyPr>
            <a:normAutofit/>
          </a:bodyPr>
          <a:lstStyle/>
          <a:p>
            <a:pPr algn="just">
              <a:lnSpc>
                <a:spcPct val="150000"/>
              </a:lnSpc>
            </a:pPr>
            <a:r>
              <a:rPr lang="en-US" sz="1700" b="1" dirty="0"/>
              <a:t>Year-to-Date Performance Analysis as at Dec 2018 </a:t>
            </a:r>
          </a:p>
          <a:p>
            <a:pPr algn="just">
              <a:lnSpc>
                <a:spcPct val="150000"/>
              </a:lnSpc>
            </a:pPr>
            <a:r>
              <a:rPr lang="en-US" b="1" dirty="0"/>
              <a:t>Primary Dataset YTD Performance</a:t>
            </a:r>
          </a:p>
          <a:p>
            <a:pPr marL="0" indent="0" algn="just">
              <a:lnSpc>
                <a:spcPct val="100000"/>
              </a:lnSpc>
              <a:buNone/>
            </a:pPr>
            <a:r>
              <a:rPr lang="en-US" sz="1400" dirty="0"/>
              <a:t>Total YTD Sales : $428,682</a:t>
            </a:r>
          </a:p>
          <a:p>
            <a:pPr marL="0" indent="0" algn="just">
              <a:lnSpc>
                <a:spcPct val="100000"/>
              </a:lnSpc>
              <a:buNone/>
            </a:pPr>
            <a:r>
              <a:rPr lang="en-US" sz="1400" dirty="0"/>
              <a:t>Comparative Performance: decrease 6.06% vs. previous year</a:t>
            </a:r>
          </a:p>
          <a:p>
            <a:pPr marL="0" indent="0" algn="just">
              <a:lnSpc>
                <a:spcPct val="160000"/>
              </a:lnSpc>
              <a:buNone/>
            </a:pPr>
            <a:r>
              <a:rPr lang="en-US" sz="1700" b="1" dirty="0"/>
              <a:t>Secondary Dataset YTD Performance</a:t>
            </a:r>
          </a:p>
          <a:p>
            <a:pPr algn="just">
              <a:lnSpc>
                <a:spcPct val="100000"/>
              </a:lnSpc>
            </a:pPr>
            <a:r>
              <a:rPr lang="en-US" sz="1400" dirty="0"/>
              <a:t>Total YTD Sales : $4,098,448</a:t>
            </a:r>
          </a:p>
          <a:p>
            <a:pPr marL="0" indent="0" algn="just">
              <a:lnSpc>
                <a:spcPct val="100000"/>
              </a:lnSpc>
              <a:buNone/>
            </a:pPr>
            <a:r>
              <a:rPr lang="en-US" sz="1400" dirty="0"/>
              <a:t>Comparative Performance: increase 11.77% vs. previous year</a:t>
            </a:r>
          </a:p>
          <a:p>
            <a:pPr marL="0" indent="0" algn="just">
              <a:lnSpc>
                <a:spcPct val="100000"/>
              </a:lnSpc>
              <a:buNone/>
            </a:pPr>
            <a:endParaRPr lang="en-US" sz="1400" dirty="0"/>
          </a:p>
        </p:txBody>
      </p:sp>
      <p:sp>
        <p:nvSpPr>
          <p:cNvPr id="5" name="Slide Number Placeholder 4">
            <a:extLst>
              <a:ext uri="{FF2B5EF4-FFF2-40B4-BE49-F238E27FC236}">
                <a16:creationId xmlns:a16="http://schemas.microsoft.com/office/drawing/2014/main" id="{4FDBFC16-1153-4BEE-CF5A-D9587B878E74}"/>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12</a:t>
            </a:fld>
            <a:endParaRPr lang="en-US"/>
          </a:p>
        </p:txBody>
      </p:sp>
      <p:pic>
        <p:nvPicPr>
          <p:cNvPr id="4" name="Picture 3">
            <a:extLst>
              <a:ext uri="{FF2B5EF4-FFF2-40B4-BE49-F238E27FC236}">
                <a16:creationId xmlns:a16="http://schemas.microsoft.com/office/drawing/2014/main" id="{B1897E9C-B193-3A58-6A28-24DCB8F886FC}"/>
              </a:ext>
            </a:extLst>
          </p:cNvPr>
          <p:cNvPicPr>
            <a:picLocks noChangeAspect="1"/>
          </p:cNvPicPr>
          <p:nvPr/>
        </p:nvPicPr>
        <p:blipFill>
          <a:blip r:embed="rId3"/>
          <a:stretch>
            <a:fillRect/>
          </a:stretch>
        </p:blipFill>
        <p:spPr>
          <a:xfrm>
            <a:off x="5649999" y="2743262"/>
            <a:ext cx="6172200" cy="3194114"/>
          </a:xfrm>
          <a:prstGeom prst="rect">
            <a:avLst/>
          </a:prstGeom>
          <a:noFill/>
        </p:spPr>
      </p:pic>
      <p:sp>
        <p:nvSpPr>
          <p:cNvPr id="3" name="Right Triangle 2">
            <a:extLst>
              <a:ext uri="{FF2B5EF4-FFF2-40B4-BE49-F238E27FC236}">
                <a16:creationId xmlns:a16="http://schemas.microsoft.com/office/drawing/2014/main" id="{DFDB2B0E-DD22-28B6-0E4C-BDBADFA92943}"/>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Right Triangle 5">
            <a:extLst>
              <a:ext uri="{FF2B5EF4-FFF2-40B4-BE49-F238E27FC236}">
                <a16:creationId xmlns:a16="http://schemas.microsoft.com/office/drawing/2014/main" id="{0A741EC2-3577-090F-1B63-3243F0A6B1D7}"/>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 name="Diagonal Stripe 6">
            <a:extLst>
              <a:ext uri="{FF2B5EF4-FFF2-40B4-BE49-F238E27FC236}">
                <a16:creationId xmlns:a16="http://schemas.microsoft.com/office/drawing/2014/main" id="{C936465F-2C81-4EEC-7D0B-78F3AA553DEC}"/>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8" name="Diagonal Stripe 7">
            <a:extLst>
              <a:ext uri="{FF2B5EF4-FFF2-40B4-BE49-F238E27FC236}">
                <a16:creationId xmlns:a16="http://schemas.microsoft.com/office/drawing/2014/main" id="{425D13FC-8BD2-ACCD-E57C-CF21F188C4B8}"/>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3349972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8B458B7-B31E-F669-7043-CA28F1272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DE733-8A6D-335B-E462-383DBAFFEA51}"/>
              </a:ext>
            </a:extLst>
          </p:cNvPr>
          <p:cNvSpPr>
            <a:spLocks noGrp="1"/>
          </p:cNvSpPr>
          <p:nvPr>
            <p:ph type="title"/>
          </p:nvPr>
        </p:nvSpPr>
        <p:spPr>
          <a:xfrm>
            <a:off x="1860755" y="331961"/>
            <a:ext cx="8121445" cy="853539"/>
          </a:xfrm>
        </p:spPr>
        <p:txBody>
          <a:bodyPr anchor="ctr">
            <a:normAutofit/>
          </a:bodyPr>
          <a:lstStyle/>
          <a:p>
            <a:pPr algn="ctr"/>
            <a:r>
              <a:rPr lang="en-US" b="1" dirty="0">
                <a:ln w="28575">
                  <a:noFill/>
                  <a:prstDash val="solid"/>
                </a:ln>
              </a:rPr>
              <a:t>90 DAY FORECAST ANALYSIS</a:t>
            </a:r>
            <a:endParaRPr lang="en-US" b="1" spc="600" dirty="0">
              <a:ln w="28575">
                <a:noFill/>
                <a:prstDash val="solid"/>
              </a:ln>
            </a:endParaRPr>
          </a:p>
        </p:txBody>
      </p:sp>
      <p:sp>
        <p:nvSpPr>
          <p:cNvPr id="14" name="Content Placeholder 3">
            <a:extLst>
              <a:ext uri="{FF2B5EF4-FFF2-40B4-BE49-F238E27FC236}">
                <a16:creationId xmlns:a16="http://schemas.microsoft.com/office/drawing/2014/main" id="{7554715C-AEEE-FD01-7105-161164D9E525}"/>
              </a:ext>
            </a:extLst>
          </p:cNvPr>
          <p:cNvSpPr>
            <a:spLocks noGrp="1"/>
          </p:cNvSpPr>
          <p:nvPr>
            <p:ph sz="half" idx="1"/>
          </p:nvPr>
        </p:nvSpPr>
        <p:spPr>
          <a:xfrm>
            <a:off x="1192932" y="1253612"/>
            <a:ext cx="5846965" cy="4635912"/>
          </a:xfrm>
        </p:spPr>
        <p:txBody>
          <a:bodyPr anchor="ctr">
            <a:noAutofit/>
          </a:bodyPr>
          <a:lstStyle/>
          <a:p>
            <a:pPr marL="0" indent="0" algn="ctr">
              <a:lnSpc>
                <a:spcPct val="150000"/>
              </a:lnSpc>
              <a:buNone/>
            </a:pPr>
            <a:r>
              <a:rPr lang="en-US" sz="1800" b="1" dirty="0"/>
              <a:t>Predictive Performance Analysis as at Dec 2018</a:t>
            </a:r>
          </a:p>
          <a:p>
            <a:pPr marL="0" indent="0" algn="just">
              <a:lnSpc>
                <a:spcPct val="150000"/>
              </a:lnSpc>
              <a:buNone/>
            </a:pPr>
            <a:r>
              <a:rPr lang="en-US" sz="1600" b="1" dirty="0"/>
              <a:t>Primary Sales Forecast</a:t>
            </a:r>
          </a:p>
          <a:p>
            <a:pPr marL="285750" indent="-285750" algn="just">
              <a:lnSpc>
                <a:spcPct val="100000"/>
              </a:lnSpc>
            </a:pPr>
            <a:r>
              <a:rPr lang="en-US" sz="1400" dirty="0"/>
              <a:t>Current Trend: Declining (-1.09% annual, -6.06% YTD)</a:t>
            </a:r>
          </a:p>
          <a:p>
            <a:pPr marL="285750" indent="-285750" algn="just">
              <a:lnSpc>
                <a:spcPct val="100000"/>
              </a:lnSpc>
            </a:pPr>
            <a:r>
              <a:rPr lang="en-US" sz="1400" dirty="0"/>
              <a:t>Outlook: Without intervention, the decline will likely continue</a:t>
            </a:r>
          </a:p>
          <a:p>
            <a:pPr marL="285750" indent="-285750" algn="just">
              <a:lnSpc>
                <a:spcPct val="100000"/>
              </a:lnSpc>
            </a:pPr>
            <a:r>
              <a:rPr lang="en-US" sz="1400" dirty="0"/>
              <a:t>90-day projection: upper +$8.3k, lower -$6.3k</a:t>
            </a:r>
            <a:endParaRPr lang="en-US" sz="1400" dirty="0">
              <a:highlight>
                <a:srgbClr val="FFFF00"/>
              </a:highlight>
            </a:endParaRPr>
          </a:p>
          <a:p>
            <a:pPr marL="285750" indent="-285750" algn="just">
              <a:lnSpc>
                <a:spcPct val="100000"/>
              </a:lnSpc>
            </a:pPr>
            <a:r>
              <a:rPr lang="en-US" sz="1400" dirty="0"/>
              <a:t>Risk: High – immediate changes needed to reverse trend</a:t>
            </a:r>
          </a:p>
          <a:p>
            <a:pPr marL="0" indent="0" algn="just">
              <a:lnSpc>
                <a:spcPct val="150000"/>
              </a:lnSpc>
              <a:buNone/>
            </a:pPr>
            <a:r>
              <a:rPr lang="en-US" sz="1600" b="1" dirty="0"/>
              <a:t>Secondary Sales Forecast</a:t>
            </a:r>
          </a:p>
          <a:p>
            <a:pPr marL="285750" indent="-285750" algn="just">
              <a:lnSpc>
                <a:spcPct val="100000"/>
              </a:lnSpc>
            </a:pPr>
            <a:r>
              <a:rPr lang="en-US" sz="1400" dirty="0"/>
              <a:t>Current Trend: Growing (+$1.19m, +11.77% YTD)</a:t>
            </a:r>
          </a:p>
          <a:p>
            <a:pPr marL="285750" indent="-285750" algn="just">
              <a:lnSpc>
                <a:spcPct val="100000"/>
              </a:lnSpc>
            </a:pPr>
            <a:r>
              <a:rPr lang="en-US" sz="1400" dirty="0"/>
              <a:t>Outlook: Growth expected to continue with strong market demand</a:t>
            </a:r>
          </a:p>
          <a:p>
            <a:pPr marL="285750" indent="-285750" algn="just">
              <a:lnSpc>
                <a:spcPct val="100000"/>
              </a:lnSpc>
            </a:pPr>
            <a:r>
              <a:rPr lang="en-US" sz="1400" dirty="0"/>
              <a:t>90-day projection: upper +$27k, lower +$5k</a:t>
            </a:r>
          </a:p>
          <a:p>
            <a:pPr marL="285750" indent="-285750" algn="just">
              <a:lnSpc>
                <a:spcPct val="100000"/>
              </a:lnSpc>
            </a:pPr>
            <a:r>
              <a:rPr lang="en-US" sz="1400" dirty="0"/>
              <a:t>Confidence: High – scalable model supports predictable growth</a:t>
            </a:r>
          </a:p>
          <a:p>
            <a:pPr marL="0" indent="0" algn="just">
              <a:lnSpc>
                <a:spcPct val="100000"/>
              </a:lnSpc>
              <a:buNone/>
            </a:pPr>
            <a:r>
              <a:rPr lang="en-US" sz="1400" dirty="0"/>
              <a:t>Summary: Primary requires urgent turnaround; Secondary is poised for continued, scalable growth.</a:t>
            </a:r>
          </a:p>
          <a:p>
            <a:pPr marL="285750" indent="-285750" algn="just">
              <a:lnSpc>
                <a:spcPct val="100000"/>
              </a:lnSpc>
            </a:pPr>
            <a:endParaRPr lang="en-US" sz="1400" dirty="0"/>
          </a:p>
        </p:txBody>
      </p:sp>
      <p:sp>
        <p:nvSpPr>
          <p:cNvPr id="5" name="Slide Number Placeholder 4">
            <a:extLst>
              <a:ext uri="{FF2B5EF4-FFF2-40B4-BE49-F238E27FC236}">
                <a16:creationId xmlns:a16="http://schemas.microsoft.com/office/drawing/2014/main" id="{13C180D5-B15D-446C-9D16-88EBD9B063E2}"/>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13</a:t>
            </a:fld>
            <a:endParaRPr lang="en-US"/>
          </a:p>
        </p:txBody>
      </p:sp>
      <p:pic>
        <p:nvPicPr>
          <p:cNvPr id="6" name="Picture 5">
            <a:extLst>
              <a:ext uri="{FF2B5EF4-FFF2-40B4-BE49-F238E27FC236}">
                <a16:creationId xmlns:a16="http://schemas.microsoft.com/office/drawing/2014/main" id="{BFDD90C1-7783-BEAE-94F3-7C54E9030103}"/>
              </a:ext>
            </a:extLst>
          </p:cNvPr>
          <p:cNvPicPr>
            <a:picLocks noChangeAspect="1"/>
          </p:cNvPicPr>
          <p:nvPr/>
        </p:nvPicPr>
        <p:blipFill>
          <a:blip r:embed="rId3"/>
          <a:stretch>
            <a:fillRect/>
          </a:stretch>
        </p:blipFill>
        <p:spPr>
          <a:xfrm>
            <a:off x="7252211" y="2782529"/>
            <a:ext cx="4855443" cy="3003530"/>
          </a:xfrm>
          <a:prstGeom prst="rect">
            <a:avLst/>
          </a:prstGeom>
          <a:noFill/>
        </p:spPr>
      </p:pic>
      <p:sp>
        <p:nvSpPr>
          <p:cNvPr id="3" name="Right Triangle 2">
            <a:extLst>
              <a:ext uri="{FF2B5EF4-FFF2-40B4-BE49-F238E27FC236}">
                <a16:creationId xmlns:a16="http://schemas.microsoft.com/office/drawing/2014/main" id="{9E3030E6-EC14-1F50-894D-AC635BA8FF98}"/>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Right Triangle 3">
            <a:extLst>
              <a:ext uri="{FF2B5EF4-FFF2-40B4-BE49-F238E27FC236}">
                <a16:creationId xmlns:a16="http://schemas.microsoft.com/office/drawing/2014/main" id="{62EA32CF-2A9E-5FC0-3533-C63700C30988}"/>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 name="Diagonal Stripe 6">
            <a:extLst>
              <a:ext uri="{FF2B5EF4-FFF2-40B4-BE49-F238E27FC236}">
                <a16:creationId xmlns:a16="http://schemas.microsoft.com/office/drawing/2014/main" id="{BDDE902E-F6FF-E171-78BC-ABF694F4CDF3}"/>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8" name="Diagonal Stripe 7">
            <a:extLst>
              <a:ext uri="{FF2B5EF4-FFF2-40B4-BE49-F238E27FC236}">
                <a16:creationId xmlns:a16="http://schemas.microsoft.com/office/drawing/2014/main" id="{DAD6AF4A-9476-9C01-A568-4F5385B317F9}"/>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3729782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5564DB1-C93A-35C8-F6B1-17DFAC386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EEA40-4843-F1BC-FE4B-6B7719E0BC82}"/>
              </a:ext>
            </a:extLst>
          </p:cNvPr>
          <p:cNvSpPr>
            <a:spLocks noGrp="1"/>
          </p:cNvSpPr>
          <p:nvPr>
            <p:ph type="title"/>
          </p:nvPr>
        </p:nvSpPr>
        <p:spPr>
          <a:xfrm>
            <a:off x="3421625" y="500441"/>
            <a:ext cx="4865739" cy="696759"/>
          </a:xfrm>
        </p:spPr>
        <p:txBody>
          <a:bodyPr anchor="b">
            <a:normAutofit/>
          </a:bodyPr>
          <a:lstStyle/>
          <a:p>
            <a:pPr algn="ctr"/>
            <a:r>
              <a:rPr lang="en-US" sz="4000" b="1" dirty="0"/>
              <a:t>CONCLUSION</a:t>
            </a:r>
          </a:p>
        </p:txBody>
      </p:sp>
      <p:sp>
        <p:nvSpPr>
          <p:cNvPr id="3" name="Subtitle 2">
            <a:extLst>
              <a:ext uri="{FF2B5EF4-FFF2-40B4-BE49-F238E27FC236}">
                <a16:creationId xmlns:a16="http://schemas.microsoft.com/office/drawing/2014/main" id="{2B49D973-8FA1-531E-9246-26DE087004FD}"/>
              </a:ext>
            </a:extLst>
          </p:cNvPr>
          <p:cNvSpPr>
            <a:spLocks noGrp="1"/>
          </p:cNvSpPr>
          <p:nvPr>
            <p:ph idx="1"/>
          </p:nvPr>
        </p:nvSpPr>
        <p:spPr>
          <a:xfrm>
            <a:off x="1152832" y="1317522"/>
            <a:ext cx="9888794" cy="4077437"/>
          </a:xfrm>
        </p:spPr>
        <p:txBody>
          <a:bodyPr>
            <a:normAutofit lnSpcReduction="10000"/>
          </a:bodyPr>
          <a:lstStyle/>
          <a:p>
            <a:pPr marL="0" indent="0" algn="just">
              <a:lnSpc>
                <a:spcPct val="150000"/>
              </a:lnSpc>
              <a:buNone/>
            </a:pPr>
            <a:r>
              <a:rPr lang="en-US" sz="1600" b="1" dirty="0"/>
              <a:t>Performance Assessment Summary as at Dec 2018</a:t>
            </a:r>
          </a:p>
          <a:p>
            <a:pPr marL="0" indent="0" algn="just">
              <a:lnSpc>
                <a:spcPct val="100000"/>
              </a:lnSpc>
              <a:buNone/>
            </a:pPr>
            <a:r>
              <a:rPr lang="en-US" sz="1400" b="1" dirty="0"/>
              <a:t>Primary Dataset:</a:t>
            </a:r>
          </a:p>
          <a:p>
            <a:pPr marL="0" indent="0" algn="just">
              <a:lnSpc>
                <a:spcPct val="100000"/>
              </a:lnSpc>
              <a:buNone/>
            </a:pPr>
            <a:r>
              <a:rPr lang="en-US" sz="1400" dirty="0"/>
              <a:t>Declined 1.09% (-6.06% YTD), due to seasonal dependency on Christmas products and a narrow European focus.</a:t>
            </a:r>
          </a:p>
          <a:p>
            <a:pPr marL="0" indent="0" algn="just">
              <a:lnSpc>
                <a:spcPct val="100000"/>
              </a:lnSpc>
              <a:buNone/>
            </a:pPr>
            <a:r>
              <a:rPr lang="en-US" sz="1400" b="1" dirty="0"/>
              <a:t>Secondary Dataset:</a:t>
            </a:r>
          </a:p>
          <a:p>
            <a:pPr marL="0" indent="0" algn="just">
              <a:lnSpc>
                <a:spcPct val="100000"/>
              </a:lnSpc>
              <a:buNone/>
            </a:pPr>
            <a:r>
              <a:rPr lang="en-US" sz="1400" dirty="0"/>
              <a:t>Grew +$1.19m (11.77% YTD), driven by a diversified electronics portfolio and global market reach.</a:t>
            </a:r>
          </a:p>
          <a:p>
            <a:pPr marL="0" lvl="0" indent="0" algn="just">
              <a:lnSpc>
                <a:spcPct val="150000"/>
              </a:lnSpc>
              <a:buClr>
                <a:srgbClr val="F6A6F4"/>
              </a:buClr>
              <a:buNone/>
              <a:defRPr/>
            </a:pPr>
            <a:r>
              <a:rPr lang="en-US" sz="1600" b="1" dirty="0"/>
              <a:t>Key Insight</a:t>
            </a:r>
          </a:p>
          <a:p>
            <a:pPr algn="just">
              <a:lnSpc>
                <a:spcPct val="100000"/>
              </a:lnSpc>
            </a:pPr>
            <a:r>
              <a:rPr lang="en-US" sz="1400" dirty="0"/>
              <a:t>Secondary operates at 7.3x the scale of Primary, with fundamentally different growth patterns and seasonality.</a:t>
            </a:r>
          </a:p>
          <a:p>
            <a:pPr marL="0" indent="0" algn="just">
              <a:lnSpc>
                <a:spcPct val="150000"/>
              </a:lnSpc>
              <a:buClr>
                <a:srgbClr val="F6A6F4"/>
              </a:buClr>
              <a:buNone/>
              <a:defRPr/>
            </a:pPr>
            <a:r>
              <a:rPr lang="en-US" sz="1600" b="1" dirty="0"/>
              <a:t>Strategic Imperative</a:t>
            </a:r>
          </a:p>
          <a:p>
            <a:pPr marL="171450" indent="-171450" algn="just">
              <a:lnSpc>
                <a:spcPct val="100000"/>
              </a:lnSpc>
              <a:buFont typeface="Arial" panose="020B0604020202020204" pitchFamily="34" charset="0"/>
              <a:buChar char="•"/>
            </a:pPr>
            <a:r>
              <a:rPr lang="en-US" sz="1400" dirty="0"/>
              <a:t>Primary requires immediate turnaround through product and geographic diversification</a:t>
            </a:r>
          </a:p>
          <a:p>
            <a:pPr marL="171450" indent="-171450" algn="just">
              <a:lnSpc>
                <a:spcPct val="100000"/>
              </a:lnSpc>
              <a:buFont typeface="Arial" panose="020B0604020202020204" pitchFamily="34" charset="0"/>
              <a:buChar char="•"/>
            </a:pPr>
            <a:r>
              <a:rPr lang="en-US" sz="1400" dirty="0"/>
              <a:t>Secondary should accelerate its proven growth model into new markets</a:t>
            </a:r>
          </a:p>
          <a:p>
            <a:pPr marL="171450" indent="-171450" algn="just">
              <a:lnSpc>
                <a:spcPct val="100000"/>
              </a:lnSpc>
              <a:buFont typeface="Arial" panose="020B0604020202020204" pitchFamily="34" charset="0"/>
              <a:buChar char="•"/>
            </a:pPr>
            <a:r>
              <a:rPr lang="en-US" sz="1400" dirty="0"/>
              <a:t>Cross-learning between the two units can drive integrated improvement.</a:t>
            </a:r>
          </a:p>
        </p:txBody>
      </p:sp>
      <p:sp>
        <p:nvSpPr>
          <p:cNvPr id="8" name="Slide Number Placeholder 3">
            <a:extLst>
              <a:ext uri="{FF2B5EF4-FFF2-40B4-BE49-F238E27FC236}">
                <a16:creationId xmlns:a16="http://schemas.microsoft.com/office/drawing/2014/main" id="{6DA3C90B-9571-F585-5A1D-12D69948D95C}"/>
              </a:ext>
            </a:extLst>
          </p:cNvPr>
          <p:cNvSpPr>
            <a:spLocks noGrp="1"/>
          </p:cNvSpPr>
          <p:nvPr>
            <p:ph type="sldNum" sz="quarter" idx="12"/>
          </p:nvPr>
        </p:nvSpPr>
        <p:spPr/>
        <p:txBody>
          <a:bodyPr/>
          <a:lstStyle/>
          <a:p>
            <a:pPr>
              <a:spcAft>
                <a:spcPts val="600"/>
              </a:spcAft>
            </a:pPr>
            <a:fld id="{294A09A9-5501-47C1-A89A-A340965A2BE2}" type="slidenum">
              <a:rPr lang="en-US" smtClean="0"/>
              <a:pPr>
                <a:spcAft>
                  <a:spcPts val="600"/>
                </a:spcAft>
              </a:pPr>
              <a:t>14</a:t>
            </a:fld>
            <a:endParaRPr lang="en-US"/>
          </a:p>
        </p:txBody>
      </p:sp>
      <p:sp>
        <p:nvSpPr>
          <p:cNvPr id="4" name="Right Triangle 3">
            <a:extLst>
              <a:ext uri="{FF2B5EF4-FFF2-40B4-BE49-F238E27FC236}">
                <a16:creationId xmlns:a16="http://schemas.microsoft.com/office/drawing/2014/main" id="{8273C816-0BCA-5439-9C1B-939B48C6F247}"/>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 name="Right Triangle 4">
            <a:extLst>
              <a:ext uri="{FF2B5EF4-FFF2-40B4-BE49-F238E27FC236}">
                <a16:creationId xmlns:a16="http://schemas.microsoft.com/office/drawing/2014/main" id="{8092F9B4-1120-8348-4BB3-F794521951B6}"/>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Diagonal Stripe 5">
            <a:extLst>
              <a:ext uri="{FF2B5EF4-FFF2-40B4-BE49-F238E27FC236}">
                <a16:creationId xmlns:a16="http://schemas.microsoft.com/office/drawing/2014/main" id="{FAEFB699-84B4-D736-8E11-883B7B91F248}"/>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7" name="Diagonal Stripe 6">
            <a:extLst>
              <a:ext uri="{FF2B5EF4-FFF2-40B4-BE49-F238E27FC236}">
                <a16:creationId xmlns:a16="http://schemas.microsoft.com/office/drawing/2014/main" id="{819D6BCA-1CE7-404D-C030-91D76F90DF9F}"/>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Tree>
    <p:extLst>
      <p:ext uri="{BB962C8B-B14F-4D97-AF65-F5344CB8AC3E}">
        <p14:creationId xmlns:p14="http://schemas.microsoft.com/office/powerpoint/2010/main" val="45467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55FEE5-39B3-EE2C-A817-FBD9BF425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CD1DC-316B-A485-3336-36B62585615F}"/>
              </a:ext>
            </a:extLst>
          </p:cNvPr>
          <p:cNvSpPr>
            <a:spLocks noGrp="1"/>
          </p:cNvSpPr>
          <p:nvPr>
            <p:ph type="title"/>
          </p:nvPr>
        </p:nvSpPr>
        <p:spPr>
          <a:xfrm>
            <a:off x="2815713" y="283686"/>
            <a:ext cx="5794887" cy="745920"/>
          </a:xfrm>
        </p:spPr>
        <p:txBody>
          <a:bodyPr anchor="b">
            <a:normAutofit/>
          </a:bodyPr>
          <a:lstStyle/>
          <a:p>
            <a:pPr algn="ctr"/>
            <a:r>
              <a:rPr lang="en-US" sz="4000" b="1" dirty="0"/>
              <a:t>RECOMMENDATION</a:t>
            </a:r>
          </a:p>
        </p:txBody>
      </p:sp>
      <p:sp>
        <p:nvSpPr>
          <p:cNvPr id="8" name="Slide Number Placeholder 3">
            <a:extLst>
              <a:ext uri="{FF2B5EF4-FFF2-40B4-BE49-F238E27FC236}">
                <a16:creationId xmlns:a16="http://schemas.microsoft.com/office/drawing/2014/main" id="{99427685-29BA-52B5-1E6B-8CDCBDEE24C5}"/>
              </a:ext>
            </a:extLst>
          </p:cNvPr>
          <p:cNvSpPr>
            <a:spLocks noGrp="1"/>
          </p:cNvSpPr>
          <p:nvPr>
            <p:ph type="sldNum" sz="quarter" idx="12"/>
          </p:nvPr>
        </p:nvSpPr>
        <p:spPr/>
        <p:txBody>
          <a:bodyPr anchor="ctr">
            <a:normAutofit/>
          </a:bodyPr>
          <a:lstStyle/>
          <a:p>
            <a:pPr>
              <a:spcAft>
                <a:spcPts val="600"/>
              </a:spcAft>
            </a:pPr>
            <a:fld id="{294A09A9-5501-47C1-A89A-A340965A2BE2}" type="slidenum">
              <a:rPr lang="en-US" smtClean="0"/>
              <a:pPr>
                <a:spcAft>
                  <a:spcPts val="600"/>
                </a:spcAft>
              </a:pPr>
              <a:t>15</a:t>
            </a:fld>
            <a:endParaRPr lang="en-US"/>
          </a:p>
        </p:txBody>
      </p:sp>
      <p:sp>
        <p:nvSpPr>
          <p:cNvPr id="3" name="Right Triangle 2">
            <a:extLst>
              <a:ext uri="{FF2B5EF4-FFF2-40B4-BE49-F238E27FC236}">
                <a16:creationId xmlns:a16="http://schemas.microsoft.com/office/drawing/2014/main" id="{4C4D98E3-94E4-9FE8-4EDC-B0179F257A4C}"/>
              </a:ext>
            </a:extLst>
          </p:cNvPr>
          <p:cNvSpPr/>
          <p:nvPr/>
        </p:nvSpPr>
        <p:spPr>
          <a:xfrm>
            <a:off x="-12019" y="539496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Right Triangle 3">
            <a:extLst>
              <a:ext uri="{FF2B5EF4-FFF2-40B4-BE49-F238E27FC236}">
                <a16:creationId xmlns:a16="http://schemas.microsoft.com/office/drawing/2014/main" id="{A97F0081-5505-B4BC-8457-FC37C90EC891}"/>
              </a:ext>
            </a:extLst>
          </p:cNvPr>
          <p:cNvSpPr/>
          <p:nvPr/>
        </p:nvSpPr>
        <p:spPr>
          <a:xfrm rot="10800000">
            <a:off x="10488838" y="0"/>
            <a:ext cx="1703162" cy="1463040"/>
          </a:xfrm>
          <a:prstGeom prst="rtTriangle">
            <a:avLst/>
          </a:prstGeom>
          <a:solidFill>
            <a:srgbClr val="F2C2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 name="Diagonal Stripe 4">
            <a:extLst>
              <a:ext uri="{FF2B5EF4-FFF2-40B4-BE49-F238E27FC236}">
                <a16:creationId xmlns:a16="http://schemas.microsoft.com/office/drawing/2014/main" id="{4160FA29-2C08-E0A5-66F8-5639490A84C5}"/>
              </a:ext>
            </a:extLst>
          </p:cNvPr>
          <p:cNvSpPr/>
          <p:nvPr/>
        </p:nvSpPr>
        <p:spPr>
          <a:xfrm rot="5400000">
            <a:off x="9801951" y="-4472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sp>
        <p:nvSpPr>
          <p:cNvPr id="6" name="Diagonal Stripe 5">
            <a:extLst>
              <a:ext uri="{FF2B5EF4-FFF2-40B4-BE49-F238E27FC236}">
                <a16:creationId xmlns:a16="http://schemas.microsoft.com/office/drawing/2014/main" id="{8888BB61-6ACC-7657-763F-022FD7A58534}"/>
              </a:ext>
            </a:extLst>
          </p:cNvPr>
          <p:cNvSpPr/>
          <p:nvPr/>
        </p:nvSpPr>
        <p:spPr>
          <a:xfrm rot="16200000">
            <a:off x="195652" y="4476475"/>
            <a:ext cx="2170621" cy="2440787"/>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solidFill>
                <a:schemeClr val="tx1"/>
              </a:solidFill>
            </a:endParaRPr>
          </a:p>
        </p:txBody>
      </p:sp>
      <p:graphicFrame>
        <p:nvGraphicFramePr>
          <p:cNvPr id="9" name="Content Placeholder 8">
            <a:extLst>
              <a:ext uri="{FF2B5EF4-FFF2-40B4-BE49-F238E27FC236}">
                <a16:creationId xmlns:a16="http://schemas.microsoft.com/office/drawing/2014/main" id="{9D68EFB9-5348-6936-DFD5-FC19AF660F76}"/>
              </a:ext>
            </a:extLst>
          </p:cNvPr>
          <p:cNvGraphicFramePr>
            <a:graphicFrameLocks noGrp="1"/>
          </p:cNvGraphicFramePr>
          <p:nvPr>
            <p:ph idx="1"/>
            <p:extLst>
              <p:ext uri="{D42A27DB-BD31-4B8C-83A1-F6EECF244321}">
                <p14:modId xmlns:p14="http://schemas.microsoft.com/office/powerpoint/2010/main" val="1513545137"/>
              </p:ext>
            </p:extLst>
          </p:nvPr>
        </p:nvGraphicFramePr>
        <p:xfrm>
          <a:off x="1280962" y="1446040"/>
          <a:ext cx="9672622" cy="4493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64813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D9BCD563582EC4E97F7A278F52CACFB" ma:contentTypeVersion="5" ma:contentTypeDescription="Create a new document." ma:contentTypeScope="" ma:versionID="560d0d2b8aa10310ac68705791dc805c">
  <xsd:schema xmlns:xsd="http://www.w3.org/2001/XMLSchema" xmlns:xs="http://www.w3.org/2001/XMLSchema" xmlns:p="http://schemas.microsoft.com/office/2006/metadata/properties" xmlns:ns3="d496100e-88f0-4ab6-a592-4a13a9ccdea8" targetNamespace="http://schemas.microsoft.com/office/2006/metadata/properties" ma:root="true" ma:fieldsID="2fc36acc5cf37813e42ee09ee3a6e2eb" ns3:_="">
    <xsd:import namespace="d496100e-88f0-4ab6-a592-4a13a9ccdea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96100e-88f0-4ab6-a592-4a13a9ccdea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d496100e-88f0-4ab6-a592-4a13a9ccdea8" xsi:nil="true"/>
  </documentManagement>
</p:properties>
</file>

<file path=customXml/itemProps1.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2.xml><?xml version="1.0" encoding="utf-8"?>
<ds:datastoreItem xmlns:ds="http://schemas.openxmlformats.org/officeDocument/2006/customXml" ds:itemID="{7A5D95F6-0C47-44CB-9739-050539D0D4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96100e-88f0-4ab6-a592-4a13a9ccde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B8ECF1-2A9D-464C-AFE8-2B3295D0BF97}">
  <ds:schemaRefs>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d496100e-88f0-4ab6-a592-4a13a9ccdea8"/>
    <ds:schemaRef ds:uri="http://www.w3.org/XML/1998/namespace"/>
    <ds:schemaRef ds:uri="http://purl.org/dc/dcmityp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1734</TotalTime>
  <Words>1780</Words>
  <Application>Microsoft Office PowerPoint</Application>
  <PresentationFormat>Widescreen</PresentationFormat>
  <Paragraphs>234</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Aptos Display</vt:lpstr>
      <vt:lpstr>Arial</vt:lpstr>
      <vt:lpstr>Calibri</vt:lpstr>
      <vt:lpstr>Courier New</vt:lpstr>
      <vt:lpstr>Segoe UI Light</vt:lpstr>
      <vt:lpstr>Wingdings</vt:lpstr>
      <vt:lpstr>Office Theme</vt:lpstr>
      <vt:lpstr>Sales Performance Analysis  A Comparative study of Primary &amp; Secondary dataset  Analysis Period: January 2015 – December 2018</vt:lpstr>
      <vt:lpstr>CONTENTS</vt:lpstr>
      <vt:lpstr>EXECUTIVE SUMMARY</vt:lpstr>
      <vt:lpstr>INTRODUCTION &amp; OBJECTIVES</vt:lpstr>
      <vt:lpstr>DATA SOURCE</vt:lpstr>
      <vt:lpstr>METHODOLOGY</vt:lpstr>
      <vt:lpstr>DASHBOARD OVERVIEW</vt:lpstr>
      <vt:lpstr>PRIMARY SALES PERFORMANCE</vt:lpstr>
      <vt:lpstr>SECONDARY SALES PERFORMANCE</vt:lpstr>
      <vt:lpstr>PRODUCT PERFORMANCE ANALYSIS</vt:lpstr>
      <vt:lpstr>REGIONAL PERFORMANCE ANALYSIS</vt:lpstr>
      <vt:lpstr>TIME INTELLIGENCE ANALYSIS</vt:lpstr>
      <vt:lpstr>90 DAY FORECAST ANALYSIS</vt:lpstr>
      <vt:lpstr>CONCLUSION</vt:lpstr>
      <vt:lpstr>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Ilaisaane Mosiana Atiola</dc:creator>
  <cp:lastModifiedBy>Ilaisaane Mosiana Atiola</cp:lastModifiedBy>
  <cp:revision>27</cp:revision>
  <dcterms:created xsi:type="dcterms:W3CDTF">2026-01-13T23:46:45Z</dcterms:created>
  <dcterms:modified xsi:type="dcterms:W3CDTF">2026-01-24T05:50:43Z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0x010100AD9BCD563582EC4E97F7A278F52CACFB</vt:lpwstr>
  </property>
</Properties>
</file>